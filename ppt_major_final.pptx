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notesMasterIdLst>
    <p:notesMasterId r:id="rId29"/>
  </p:notesMasterIdLst>
  <p:handoutMasterIdLst>
    <p:handoutMasterId r:id="rId30"/>
  </p:handoutMasterIdLst>
  <p:sldIdLst>
    <p:sldId id="256" r:id="rId2"/>
    <p:sldId id="257" r:id="rId3"/>
    <p:sldId id="272" r:id="rId4"/>
    <p:sldId id="267" r:id="rId5"/>
    <p:sldId id="268" r:id="rId6"/>
    <p:sldId id="286" r:id="rId7"/>
    <p:sldId id="279" r:id="rId8"/>
    <p:sldId id="280" r:id="rId9"/>
    <p:sldId id="271" r:id="rId10"/>
    <p:sldId id="281" r:id="rId11"/>
    <p:sldId id="276" r:id="rId12"/>
    <p:sldId id="282" r:id="rId13"/>
    <p:sldId id="275" r:id="rId14"/>
    <p:sldId id="263" r:id="rId15"/>
    <p:sldId id="285" r:id="rId16"/>
    <p:sldId id="274" r:id="rId17"/>
    <p:sldId id="289" r:id="rId18"/>
    <p:sldId id="290" r:id="rId19"/>
    <p:sldId id="291" r:id="rId20"/>
    <p:sldId id="292" r:id="rId21"/>
    <p:sldId id="293" r:id="rId22"/>
    <p:sldId id="283" r:id="rId23"/>
    <p:sldId id="295" r:id="rId24"/>
    <p:sldId id="296" r:id="rId25"/>
    <p:sldId id="269" r:id="rId26"/>
    <p:sldId id="294" r:id="rId27"/>
    <p:sldId id="28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A0CAC1-5CB4-425B-93EB-B7E6231F70D3}" v="33" dt="2025-04-11T20:14:32.1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475"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ravath Anvesh" userId="95caf6ae7b11797d" providerId="LiveId" clId="{80A0CAC1-5CB4-425B-93EB-B7E6231F70D3}"/>
    <pc:docChg chg="undo custSel addSld modSld">
      <pc:chgData name="Dharavath Anvesh" userId="95caf6ae7b11797d" providerId="LiveId" clId="{80A0CAC1-5CB4-425B-93EB-B7E6231F70D3}" dt="2025-04-11T20:17:38.367" v="241" actId="20577"/>
      <pc:docMkLst>
        <pc:docMk/>
      </pc:docMkLst>
      <pc:sldChg chg="modSp mod">
        <pc:chgData name="Dharavath Anvesh" userId="95caf6ae7b11797d" providerId="LiveId" clId="{80A0CAC1-5CB4-425B-93EB-B7E6231F70D3}" dt="2025-04-11T20:17:38.367" v="241" actId="20577"/>
        <pc:sldMkLst>
          <pc:docMk/>
          <pc:sldMk cId="1662761609" sldId="257"/>
        </pc:sldMkLst>
        <pc:spChg chg="mod">
          <ac:chgData name="Dharavath Anvesh" userId="95caf6ae7b11797d" providerId="LiveId" clId="{80A0CAC1-5CB4-425B-93EB-B7E6231F70D3}" dt="2025-04-11T20:17:38.367" v="241" actId="20577"/>
          <ac:spMkLst>
            <pc:docMk/>
            <pc:sldMk cId="1662761609" sldId="257"/>
            <ac:spMk id="4" creationId="{5D3AF225-BAA8-0DA6-CABD-134797BDA032}"/>
          </ac:spMkLst>
        </pc:spChg>
        <pc:spChg chg="mod">
          <ac:chgData name="Dharavath Anvesh" userId="95caf6ae7b11797d" providerId="LiveId" clId="{80A0CAC1-5CB4-425B-93EB-B7E6231F70D3}" dt="2025-04-11T19:19:44.334" v="30" actId="20577"/>
          <ac:spMkLst>
            <pc:docMk/>
            <pc:sldMk cId="1662761609" sldId="257"/>
            <ac:spMk id="6" creationId="{2F3050A8-0C00-3A11-B230-B07B21E9289D}"/>
          </ac:spMkLst>
        </pc:spChg>
      </pc:sldChg>
      <pc:sldChg chg="modSp mod">
        <pc:chgData name="Dharavath Anvesh" userId="95caf6ae7b11797d" providerId="LiveId" clId="{80A0CAC1-5CB4-425B-93EB-B7E6231F70D3}" dt="2025-04-11T20:16:55.654" v="237" actId="20577"/>
        <pc:sldMkLst>
          <pc:docMk/>
          <pc:sldMk cId="3438479490" sldId="263"/>
        </pc:sldMkLst>
        <pc:spChg chg="mod">
          <ac:chgData name="Dharavath Anvesh" userId="95caf6ae7b11797d" providerId="LiveId" clId="{80A0CAC1-5CB4-425B-93EB-B7E6231F70D3}" dt="2025-04-11T20:16:55.654" v="237" actId="20577"/>
          <ac:spMkLst>
            <pc:docMk/>
            <pc:sldMk cId="3438479490" sldId="263"/>
            <ac:spMk id="6" creationId="{571678A2-5FDF-AB25-8769-4D34C1B10919}"/>
          </ac:spMkLst>
        </pc:spChg>
      </pc:sldChg>
      <pc:sldChg chg="modSp">
        <pc:chgData name="Dharavath Anvesh" userId="95caf6ae7b11797d" providerId="LiveId" clId="{80A0CAC1-5CB4-425B-93EB-B7E6231F70D3}" dt="2025-04-11T19:29:23.439" v="45" actId="1076"/>
        <pc:sldMkLst>
          <pc:docMk/>
          <pc:sldMk cId="3035500094" sldId="267"/>
        </pc:sldMkLst>
        <pc:spChg chg="mod">
          <ac:chgData name="Dharavath Anvesh" userId="95caf6ae7b11797d" providerId="LiveId" clId="{80A0CAC1-5CB4-425B-93EB-B7E6231F70D3}" dt="2025-04-11T19:29:23.439" v="45" actId="1076"/>
          <ac:spMkLst>
            <pc:docMk/>
            <pc:sldMk cId="3035500094" sldId="267"/>
            <ac:spMk id="8" creationId="{A5ACBDB8-22B8-E05F-1C3D-6FD5434144DB}"/>
          </ac:spMkLst>
        </pc:spChg>
      </pc:sldChg>
      <pc:sldChg chg="modSp mod">
        <pc:chgData name="Dharavath Anvesh" userId="95caf6ae7b11797d" providerId="LiveId" clId="{80A0CAC1-5CB4-425B-93EB-B7E6231F70D3}" dt="2025-04-11T19:31:54.846" v="49" actId="255"/>
        <pc:sldMkLst>
          <pc:docMk/>
          <pc:sldMk cId="3432946822" sldId="268"/>
        </pc:sldMkLst>
        <pc:spChg chg="mod">
          <ac:chgData name="Dharavath Anvesh" userId="95caf6ae7b11797d" providerId="LiveId" clId="{80A0CAC1-5CB4-425B-93EB-B7E6231F70D3}" dt="2025-04-11T19:31:54.846" v="49" actId="255"/>
          <ac:spMkLst>
            <pc:docMk/>
            <pc:sldMk cId="3432946822" sldId="268"/>
            <ac:spMk id="3" creationId="{C23EA194-D391-0E6C-A58C-C0C4CD8A526E}"/>
          </ac:spMkLst>
        </pc:spChg>
      </pc:sldChg>
      <pc:sldChg chg="modSp mod">
        <pc:chgData name="Dharavath Anvesh" userId="95caf6ae7b11797d" providerId="LiveId" clId="{80A0CAC1-5CB4-425B-93EB-B7E6231F70D3}" dt="2025-04-11T20:16:03.134" v="234" actId="20577"/>
        <pc:sldMkLst>
          <pc:docMk/>
          <pc:sldMk cId="3704108262" sldId="269"/>
        </pc:sldMkLst>
        <pc:spChg chg="mod">
          <ac:chgData name="Dharavath Anvesh" userId="95caf6ae7b11797d" providerId="LiveId" clId="{80A0CAC1-5CB4-425B-93EB-B7E6231F70D3}" dt="2025-04-11T20:10:50.719" v="216" actId="20577"/>
          <ac:spMkLst>
            <pc:docMk/>
            <pc:sldMk cId="3704108262" sldId="269"/>
            <ac:spMk id="3" creationId="{65C28E8E-4AF0-4DB7-787C-6536FD119F53}"/>
          </ac:spMkLst>
        </pc:spChg>
        <pc:spChg chg="mod">
          <ac:chgData name="Dharavath Anvesh" userId="95caf6ae7b11797d" providerId="LiveId" clId="{80A0CAC1-5CB4-425B-93EB-B7E6231F70D3}" dt="2025-04-11T20:16:03.134" v="234" actId="20577"/>
          <ac:spMkLst>
            <pc:docMk/>
            <pc:sldMk cId="3704108262" sldId="269"/>
            <ac:spMk id="5" creationId="{BB008065-26D3-ED2C-20EE-637E8C123858}"/>
          </ac:spMkLst>
        </pc:spChg>
      </pc:sldChg>
      <pc:sldChg chg="modSp mod">
        <pc:chgData name="Dharavath Anvesh" userId="95caf6ae7b11797d" providerId="LiveId" clId="{80A0CAC1-5CB4-425B-93EB-B7E6231F70D3}" dt="2025-04-11T20:17:18.984" v="239" actId="20577"/>
        <pc:sldMkLst>
          <pc:docMk/>
          <pc:sldMk cId="669453559" sldId="271"/>
        </pc:sldMkLst>
        <pc:spChg chg="mod">
          <ac:chgData name="Dharavath Anvesh" userId="95caf6ae7b11797d" providerId="LiveId" clId="{80A0CAC1-5CB4-425B-93EB-B7E6231F70D3}" dt="2025-04-11T20:17:18.984" v="239" actId="20577"/>
          <ac:spMkLst>
            <pc:docMk/>
            <pc:sldMk cId="669453559" sldId="271"/>
            <ac:spMk id="4" creationId="{4780639D-9FBD-4830-324C-E1ADA38CC762}"/>
          </ac:spMkLst>
        </pc:spChg>
      </pc:sldChg>
      <pc:sldChg chg="modSp mod">
        <pc:chgData name="Dharavath Anvesh" userId="95caf6ae7b11797d" providerId="LiveId" clId="{80A0CAC1-5CB4-425B-93EB-B7E6231F70D3}" dt="2025-04-11T19:29:09.029" v="44" actId="14100"/>
        <pc:sldMkLst>
          <pc:docMk/>
          <pc:sldMk cId="3967721438" sldId="272"/>
        </pc:sldMkLst>
        <pc:spChg chg="mod">
          <ac:chgData name="Dharavath Anvesh" userId="95caf6ae7b11797d" providerId="LiveId" clId="{80A0CAC1-5CB4-425B-93EB-B7E6231F70D3}" dt="2025-04-11T19:28:35.639" v="42" actId="1076"/>
          <ac:spMkLst>
            <pc:docMk/>
            <pc:sldMk cId="3967721438" sldId="272"/>
            <ac:spMk id="8" creationId="{BD271E34-9C89-5659-0D9E-68D74AC5A0CB}"/>
          </ac:spMkLst>
        </pc:spChg>
        <pc:picChg chg="mod">
          <ac:chgData name="Dharavath Anvesh" userId="95caf6ae7b11797d" providerId="LiveId" clId="{80A0CAC1-5CB4-425B-93EB-B7E6231F70D3}" dt="2025-04-11T19:28:47.626" v="43" actId="1076"/>
          <ac:picMkLst>
            <pc:docMk/>
            <pc:sldMk cId="3967721438" sldId="272"/>
            <ac:picMk id="5" creationId="{00000000-0000-0000-0000-000000000000}"/>
          </ac:picMkLst>
        </pc:picChg>
        <pc:cxnChg chg="mod">
          <ac:chgData name="Dharavath Anvesh" userId="95caf6ae7b11797d" providerId="LiveId" clId="{80A0CAC1-5CB4-425B-93EB-B7E6231F70D3}" dt="2025-04-11T19:29:09.029" v="44" actId="14100"/>
          <ac:cxnSpMkLst>
            <pc:docMk/>
            <pc:sldMk cId="3967721438" sldId="272"/>
            <ac:cxnSpMk id="11" creationId="{00000000-0000-0000-0000-000000000000}"/>
          </ac:cxnSpMkLst>
        </pc:cxnChg>
      </pc:sldChg>
      <pc:sldChg chg="addSp delSp modSp mod">
        <pc:chgData name="Dharavath Anvesh" userId="95caf6ae7b11797d" providerId="LiveId" clId="{80A0CAC1-5CB4-425B-93EB-B7E6231F70D3}" dt="2025-04-11T19:38:59.661" v="75"/>
        <pc:sldMkLst>
          <pc:docMk/>
          <pc:sldMk cId="657546616" sldId="280"/>
        </pc:sldMkLst>
        <pc:spChg chg="del">
          <ac:chgData name="Dharavath Anvesh" userId="95caf6ae7b11797d" providerId="LiveId" clId="{80A0CAC1-5CB4-425B-93EB-B7E6231F70D3}" dt="2025-04-11T19:37:14.045" v="67" actId="478"/>
          <ac:spMkLst>
            <pc:docMk/>
            <pc:sldMk cId="657546616" sldId="280"/>
            <ac:spMk id="2" creationId="{048EB743-13B0-F5F2-01E5-653EC65A61EA}"/>
          </ac:spMkLst>
        </pc:spChg>
        <pc:graphicFrameChg chg="add del mod modGraphic">
          <ac:chgData name="Dharavath Anvesh" userId="95caf6ae7b11797d" providerId="LiveId" clId="{80A0CAC1-5CB4-425B-93EB-B7E6231F70D3}" dt="2025-04-11T19:35:59.116" v="59" actId="478"/>
          <ac:graphicFrameMkLst>
            <pc:docMk/>
            <pc:sldMk cId="657546616" sldId="280"/>
            <ac:graphicFrameMk id="5" creationId="{2BAEAFC8-68CB-3A11-C831-4C236084D8FF}"/>
          </ac:graphicFrameMkLst>
        </pc:graphicFrameChg>
        <pc:graphicFrameChg chg="mod modGraphic">
          <ac:chgData name="Dharavath Anvesh" userId="95caf6ae7b11797d" providerId="LiveId" clId="{80A0CAC1-5CB4-425B-93EB-B7E6231F70D3}" dt="2025-04-11T19:35:23.742" v="55" actId="14100"/>
          <ac:graphicFrameMkLst>
            <pc:docMk/>
            <pc:sldMk cId="657546616" sldId="280"/>
            <ac:graphicFrameMk id="6" creationId="{3C8A7EE9-A189-D82E-9FE4-F121274FA34C}"/>
          </ac:graphicFrameMkLst>
        </pc:graphicFrameChg>
        <pc:graphicFrameChg chg="add mod modGraphic">
          <ac:chgData name="Dharavath Anvesh" userId="95caf6ae7b11797d" providerId="LiveId" clId="{80A0CAC1-5CB4-425B-93EB-B7E6231F70D3}" dt="2025-04-11T19:38:59.661" v="75"/>
          <ac:graphicFrameMkLst>
            <pc:docMk/>
            <pc:sldMk cId="657546616" sldId="280"/>
            <ac:graphicFrameMk id="8" creationId="{DD050ACC-A721-8B3E-2485-CD99502E6F88}"/>
          </ac:graphicFrameMkLst>
        </pc:graphicFrameChg>
      </pc:sldChg>
      <pc:sldChg chg="modSp mod">
        <pc:chgData name="Dharavath Anvesh" userId="95caf6ae7b11797d" providerId="LiveId" clId="{80A0CAC1-5CB4-425B-93EB-B7E6231F70D3}" dt="2025-04-11T20:05:22.961" v="181" actId="20577"/>
        <pc:sldMkLst>
          <pc:docMk/>
          <pc:sldMk cId="685565927" sldId="283"/>
        </pc:sldMkLst>
        <pc:spChg chg="mod">
          <ac:chgData name="Dharavath Anvesh" userId="95caf6ae7b11797d" providerId="LiveId" clId="{80A0CAC1-5CB4-425B-93EB-B7E6231F70D3}" dt="2025-04-11T20:05:22.961" v="181" actId="20577"/>
          <ac:spMkLst>
            <pc:docMk/>
            <pc:sldMk cId="685565927" sldId="283"/>
            <ac:spMk id="8" creationId="{A697EF50-44C7-EF4E-41CC-B51794CFAC80}"/>
          </ac:spMkLst>
        </pc:spChg>
      </pc:sldChg>
      <pc:sldChg chg="modSp mod">
        <pc:chgData name="Dharavath Anvesh" userId="95caf6ae7b11797d" providerId="LiveId" clId="{80A0CAC1-5CB4-425B-93EB-B7E6231F70D3}" dt="2025-04-11T20:03:43.905" v="169" actId="20577"/>
        <pc:sldMkLst>
          <pc:docMk/>
          <pc:sldMk cId="918133646" sldId="284"/>
        </pc:sldMkLst>
        <pc:spChg chg="mod">
          <ac:chgData name="Dharavath Anvesh" userId="95caf6ae7b11797d" providerId="LiveId" clId="{80A0CAC1-5CB4-425B-93EB-B7E6231F70D3}" dt="2025-04-11T20:03:43.905" v="169" actId="20577"/>
          <ac:spMkLst>
            <pc:docMk/>
            <pc:sldMk cId="918133646" sldId="284"/>
            <ac:spMk id="2" creationId="{89EC1A57-209D-3099-A7C4-92E0027B01D4}"/>
          </ac:spMkLst>
        </pc:spChg>
      </pc:sldChg>
      <pc:sldChg chg="addSp delSp modSp mod">
        <pc:chgData name="Dharavath Anvesh" userId="95caf6ae7b11797d" providerId="LiveId" clId="{80A0CAC1-5CB4-425B-93EB-B7E6231F70D3}" dt="2025-04-11T19:54:46.309" v="101" actId="5793"/>
        <pc:sldMkLst>
          <pc:docMk/>
          <pc:sldMk cId="938636592" sldId="290"/>
        </pc:sldMkLst>
        <pc:spChg chg="add mod">
          <ac:chgData name="Dharavath Anvesh" userId="95caf6ae7b11797d" providerId="LiveId" clId="{80A0CAC1-5CB4-425B-93EB-B7E6231F70D3}" dt="2025-04-11T19:54:46.309" v="101" actId="5793"/>
          <ac:spMkLst>
            <pc:docMk/>
            <pc:sldMk cId="938636592" sldId="290"/>
            <ac:spMk id="3" creationId="{C0B54694-E441-028A-06C0-ED9933B6306A}"/>
          </ac:spMkLst>
        </pc:spChg>
        <pc:spChg chg="add del mod">
          <ac:chgData name="Dharavath Anvesh" userId="95caf6ae7b11797d" providerId="LiveId" clId="{80A0CAC1-5CB4-425B-93EB-B7E6231F70D3}" dt="2025-04-11T19:52:04.082" v="93" actId="21"/>
          <ac:spMkLst>
            <pc:docMk/>
            <pc:sldMk cId="938636592" sldId="290"/>
            <ac:spMk id="11" creationId="{9C0635C7-1DE1-01DC-4010-7383EB0FDA6D}"/>
          </ac:spMkLst>
        </pc:spChg>
        <pc:picChg chg="add del mod">
          <ac:chgData name="Dharavath Anvesh" userId="95caf6ae7b11797d" providerId="LiveId" clId="{80A0CAC1-5CB4-425B-93EB-B7E6231F70D3}" dt="2025-04-11T19:48:02.225" v="80" actId="478"/>
          <ac:picMkLst>
            <pc:docMk/>
            <pc:sldMk cId="938636592" sldId="290"/>
            <ac:picMk id="2" creationId="{14962696-6ECE-8BC9-C133-07A3C6A2DF65}"/>
          </ac:picMkLst>
        </pc:picChg>
        <pc:picChg chg="mod">
          <ac:chgData name="Dharavath Anvesh" userId="95caf6ae7b11797d" providerId="LiveId" clId="{80A0CAC1-5CB4-425B-93EB-B7E6231F70D3}" dt="2025-04-11T19:54:28.383" v="97" actId="14100"/>
          <ac:picMkLst>
            <pc:docMk/>
            <pc:sldMk cId="938636592" sldId="290"/>
            <ac:picMk id="4" creationId="{16522684-EAAD-3303-69B1-368120001A25}"/>
          </ac:picMkLst>
        </pc:picChg>
      </pc:sldChg>
      <pc:sldChg chg="addSp modSp mod">
        <pc:chgData name="Dharavath Anvesh" userId="95caf6ae7b11797d" providerId="LiveId" clId="{80A0CAC1-5CB4-425B-93EB-B7E6231F70D3}" dt="2025-04-11T19:55:46.415" v="107" actId="1076"/>
        <pc:sldMkLst>
          <pc:docMk/>
          <pc:sldMk cId="441482792" sldId="291"/>
        </pc:sldMkLst>
        <pc:spChg chg="add mod">
          <ac:chgData name="Dharavath Anvesh" userId="95caf6ae7b11797d" providerId="LiveId" clId="{80A0CAC1-5CB4-425B-93EB-B7E6231F70D3}" dt="2025-04-11T19:55:46.415" v="107" actId="1076"/>
          <ac:spMkLst>
            <pc:docMk/>
            <pc:sldMk cId="441482792" sldId="291"/>
            <ac:spMk id="10" creationId="{4880BD00-3A61-D803-EC58-2E30CF871E7D}"/>
          </ac:spMkLst>
        </pc:spChg>
        <pc:picChg chg="mod">
          <ac:chgData name="Dharavath Anvesh" userId="95caf6ae7b11797d" providerId="LiveId" clId="{80A0CAC1-5CB4-425B-93EB-B7E6231F70D3}" dt="2025-04-11T19:55:10.424" v="105" actId="14100"/>
          <ac:picMkLst>
            <pc:docMk/>
            <pc:sldMk cId="441482792" sldId="291"/>
            <ac:picMk id="8" creationId="{5A2687F3-BE0F-CAF1-062F-9BA6E4931AC7}"/>
          </ac:picMkLst>
        </pc:picChg>
      </pc:sldChg>
      <pc:sldChg chg="addSp modSp mod">
        <pc:chgData name="Dharavath Anvesh" userId="95caf6ae7b11797d" providerId="LiveId" clId="{80A0CAC1-5CB4-425B-93EB-B7E6231F70D3}" dt="2025-04-11T19:57:53.748" v="117" actId="2711"/>
        <pc:sldMkLst>
          <pc:docMk/>
          <pc:sldMk cId="1731024928" sldId="292"/>
        </pc:sldMkLst>
        <pc:spChg chg="add mod">
          <ac:chgData name="Dharavath Anvesh" userId="95caf6ae7b11797d" providerId="LiveId" clId="{80A0CAC1-5CB4-425B-93EB-B7E6231F70D3}" dt="2025-04-11T19:57:53.748" v="117" actId="2711"/>
          <ac:spMkLst>
            <pc:docMk/>
            <pc:sldMk cId="1731024928" sldId="292"/>
            <ac:spMk id="9" creationId="{03AE78DC-1265-8C72-D23C-D942C48ADDD2}"/>
          </ac:spMkLst>
        </pc:spChg>
        <pc:picChg chg="mod">
          <ac:chgData name="Dharavath Anvesh" userId="95caf6ae7b11797d" providerId="LiveId" clId="{80A0CAC1-5CB4-425B-93EB-B7E6231F70D3}" dt="2025-04-11T19:56:03.396" v="109" actId="14100"/>
          <ac:picMkLst>
            <pc:docMk/>
            <pc:sldMk cId="1731024928" sldId="292"/>
            <ac:picMk id="10" creationId="{313F45B4-D568-D017-181F-35705AB71A6C}"/>
          </ac:picMkLst>
        </pc:picChg>
      </pc:sldChg>
      <pc:sldChg chg="addSp modSp mod">
        <pc:chgData name="Dharavath Anvesh" userId="95caf6ae7b11797d" providerId="LiveId" clId="{80A0CAC1-5CB4-425B-93EB-B7E6231F70D3}" dt="2025-04-11T20:02:25.654" v="168" actId="20577"/>
        <pc:sldMkLst>
          <pc:docMk/>
          <pc:sldMk cId="1929686186" sldId="293"/>
        </pc:sldMkLst>
        <pc:spChg chg="add mod">
          <ac:chgData name="Dharavath Anvesh" userId="95caf6ae7b11797d" providerId="LiveId" clId="{80A0CAC1-5CB4-425B-93EB-B7E6231F70D3}" dt="2025-04-11T20:02:25.654" v="168" actId="20577"/>
          <ac:spMkLst>
            <pc:docMk/>
            <pc:sldMk cId="1929686186" sldId="293"/>
            <ac:spMk id="9" creationId="{6B825C74-4794-F726-B98C-1970E79F0B4C}"/>
          </ac:spMkLst>
        </pc:spChg>
        <pc:picChg chg="mod">
          <ac:chgData name="Dharavath Anvesh" userId="95caf6ae7b11797d" providerId="LiveId" clId="{80A0CAC1-5CB4-425B-93EB-B7E6231F70D3}" dt="2025-04-11T19:58:12.531" v="118" actId="1076"/>
          <ac:picMkLst>
            <pc:docMk/>
            <pc:sldMk cId="1929686186" sldId="293"/>
            <ac:picMk id="8" creationId="{536022BC-B084-19FE-9B9D-8730178090E7}"/>
          </ac:picMkLst>
        </pc:picChg>
      </pc:sldChg>
      <pc:sldChg chg="addSp modSp new mod">
        <pc:chgData name="Dharavath Anvesh" userId="95caf6ae7b11797d" providerId="LiveId" clId="{80A0CAC1-5CB4-425B-93EB-B7E6231F70D3}" dt="2025-04-11T20:14:11.910" v="228" actId="1076"/>
        <pc:sldMkLst>
          <pc:docMk/>
          <pc:sldMk cId="3801677811" sldId="295"/>
        </pc:sldMkLst>
        <pc:spChg chg="add mod">
          <ac:chgData name="Dharavath Anvesh" userId="95caf6ae7b11797d" providerId="LiveId" clId="{80A0CAC1-5CB4-425B-93EB-B7E6231F70D3}" dt="2025-04-11T20:14:11.910" v="228" actId="1076"/>
          <ac:spMkLst>
            <pc:docMk/>
            <pc:sldMk cId="3801677811" sldId="295"/>
            <ac:spMk id="9" creationId="{4E2E73BF-F925-7F64-C24B-EC13260B1794}"/>
          </ac:spMkLst>
        </pc:spChg>
        <pc:spChg chg="add mod">
          <ac:chgData name="Dharavath Anvesh" userId="95caf6ae7b11797d" providerId="LiveId" clId="{80A0CAC1-5CB4-425B-93EB-B7E6231F70D3}" dt="2025-04-11T20:11:02.473" v="218" actId="1076"/>
          <ac:spMkLst>
            <pc:docMk/>
            <pc:sldMk cId="3801677811" sldId="295"/>
            <ac:spMk id="13" creationId="{0AE1EF31-C9C1-A72C-A5D9-F3165ABEA978}"/>
          </ac:spMkLst>
        </pc:spChg>
        <pc:picChg chg="add mod">
          <ac:chgData name="Dharavath Anvesh" userId="95caf6ae7b11797d" providerId="LiveId" clId="{80A0CAC1-5CB4-425B-93EB-B7E6231F70D3}" dt="2025-04-11T20:04:56.126" v="174"/>
          <ac:picMkLst>
            <pc:docMk/>
            <pc:sldMk cId="3801677811" sldId="295"/>
            <ac:picMk id="7" creationId="{1CF77CB1-EA75-4D2A-0A29-4803097D88CF}"/>
          </ac:picMkLst>
        </pc:picChg>
        <pc:picChg chg="add mod">
          <ac:chgData name="Dharavath Anvesh" userId="95caf6ae7b11797d" providerId="LiveId" clId="{80A0CAC1-5CB4-425B-93EB-B7E6231F70D3}" dt="2025-04-11T20:14:06.239" v="227" actId="1076"/>
          <ac:picMkLst>
            <pc:docMk/>
            <pc:sldMk cId="3801677811" sldId="295"/>
            <ac:picMk id="11" creationId="{4421694C-0BF7-3BB5-AA41-95A254DD589F}"/>
          </ac:picMkLst>
        </pc:picChg>
        <pc:cxnChg chg="add mod">
          <ac:chgData name="Dharavath Anvesh" userId="95caf6ae7b11797d" providerId="LiveId" clId="{80A0CAC1-5CB4-425B-93EB-B7E6231F70D3}" dt="2025-04-11T20:04:44.769" v="173" actId="14100"/>
          <ac:cxnSpMkLst>
            <pc:docMk/>
            <pc:sldMk cId="3801677811" sldId="295"/>
            <ac:cxnSpMk id="4" creationId="{18A5D7EA-30FD-FCA9-DE91-5779AE0CB6C8}"/>
          </ac:cxnSpMkLst>
        </pc:cxnChg>
      </pc:sldChg>
      <pc:sldChg chg="addSp delSp modSp new mod">
        <pc:chgData name="Dharavath Anvesh" userId="95caf6ae7b11797d" providerId="LiveId" clId="{80A0CAC1-5CB4-425B-93EB-B7E6231F70D3}" dt="2025-04-11T20:14:37.671" v="231" actId="14100"/>
        <pc:sldMkLst>
          <pc:docMk/>
          <pc:sldMk cId="2047972677" sldId="296"/>
        </pc:sldMkLst>
        <pc:spChg chg="add del mod">
          <ac:chgData name="Dharavath Anvesh" userId="95caf6ae7b11797d" providerId="LiveId" clId="{80A0CAC1-5CB4-425B-93EB-B7E6231F70D3}" dt="2025-04-11T20:13:48.154" v="226" actId="478"/>
          <ac:spMkLst>
            <pc:docMk/>
            <pc:sldMk cId="2047972677" sldId="296"/>
            <ac:spMk id="6" creationId="{A3D67B59-249C-8982-8087-CA3B392B7555}"/>
          </ac:spMkLst>
        </pc:spChg>
        <pc:picChg chg="add mod">
          <ac:chgData name="Dharavath Anvesh" userId="95caf6ae7b11797d" providerId="LiveId" clId="{80A0CAC1-5CB4-425B-93EB-B7E6231F70D3}" dt="2025-04-11T20:14:37.671" v="231" actId="14100"/>
          <ac:picMkLst>
            <pc:docMk/>
            <pc:sldMk cId="2047972677" sldId="296"/>
            <ac:picMk id="5" creationId="{F5C379F5-C285-4990-D8DB-1D682D86BA12}"/>
          </ac:picMkLst>
        </pc:picChg>
        <pc:picChg chg="add mod">
          <ac:chgData name="Dharavath Anvesh" userId="95caf6ae7b11797d" providerId="LiveId" clId="{80A0CAC1-5CB4-425B-93EB-B7E6231F70D3}" dt="2025-04-11T20:14:32.104" v="230"/>
          <ac:picMkLst>
            <pc:docMk/>
            <pc:sldMk cId="2047972677" sldId="296"/>
            <ac:picMk id="8" creationId="{69887376-7DEA-33B1-95AB-89EC57A09C36}"/>
          </ac:picMkLst>
        </pc:picChg>
        <pc:cxnChg chg="add mod">
          <ac:chgData name="Dharavath Anvesh" userId="95caf6ae7b11797d" providerId="LiveId" clId="{80A0CAC1-5CB4-425B-93EB-B7E6231F70D3}" dt="2025-04-11T20:14:22.487" v="229"/>
          <ac:cxnSpMkLst>
            <pc:docMk/>
            <pc:sldMk cId="2047972677" sldId="296"/>
            <ac:cxnSpMk id="7" creationId="{DF98BACB-8EC3-88D0-6AC9-EA1ED46334FC}"/>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D276DD-1367-4F7B-9F9C-0B308FF2D542}" type="datetime1">
              <a:rPr lang="en-IN" smtClean="0"/>
              <a:t>12-04-2025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A02F32-7873-4EC3-B44A-C3339B1A5D87}" type="slidenum">
              <a:rPr lang="en-IN" smtClean="0"/>
              <a:t>‹#›</a:t>
            </a:fld>
            <a:endParaRPr lang="en-IN"/>
          </a:p>
        </p:txBody>
      </p:sp>
    </p:spTree>
    <p:extLst>
      <p:ext uri="{BB962C8B-B14F-4D97-AF65-F5344CB8AC3E}">
        <p14:creationId xmlns:p14="http://schemas.microsoft.com/office/powerpoint/2010/main" val="401846038"/>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59FA1-0241-4386-B9F3-AE5F3A61A4A7}" type="datetime1">
              <a:rPr lang="en-IN" smtClean="0"/>
              <a:t>12-04-2025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A66E33-0C88-4211-9C3A-5E241118C80B}" type="slidenum">
              <a:rPr lang="en-IN" smtClean="0"/>
              <a:t>‹#›</a:t>
            </a:fld>
            <a:endParaRPr lang="en-IN"/>
          </a:p>
        </p:txBody>
      </p:sp>
    </p:spTree>
    <p:extLst>
      <p:ext uri="{BB962C8B-B14F-4D97-AF65-F5344CB8AC3E}">
        <p14:creationId xmlns:p14="http://schemas.microsoft.com/office/powerpoint/2010/main" val="3643070679"/>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endParaRPr lang="en-IN"/>
          </a:p>
        </p:txBody>
      </p:sp>
      <p:sp>
        <p:nvSpPr>
          <p:cNvPr id="5" name="Date Placeholder 4"/>
          <p:cNvSpPr>
            <a:spLocks noGrp="1"/>
          </p:cNvSpPr>
          <p:nvPr>
            <p:ph type="dt" idx="11"/>
          </p:nvPr>
        </p:nvSpPr>
        <p:spPr/>
        <p:txBody>
          <a:bodyPr/>
          <a:lstStyle/>
          <a:p>
            <a:fld id="{B240D3BD-6526-425B-BA9F-B60BD7848CF2}" type="datetime1">
              <a:rPr lang="en-IN" smtClean="0"/>
              <a:t>12-04-2025</a:t>
            </a:fld>
            <a:endParaRPr lang="en-IN"/>
          </a:p>
        </p:txBody>
      </p:sp>
      <p:sp>
        <p:nvSpPr>
          <p:cNvPr id="6" name="Slide Number Placeholder 5"/>
          <p:cNvSpPr>
            <a:spLocks noGrp="1"/>
          </p:cNvSpPr>
          <p:nvPr>
            <p:ph type="sldNum" sz="quarter" idx="12"/>
          </p:nvPr>
        </p:nvSpPr>
        <p:spPr/>
        <p:txBody>
          <a:bodyPr/>
          <a:lstStyle/>
          <a:p>
            <a:fld id="{7FA66E33-0C88-4211-9C3A-5E241118C80B}" type="slidenum">
              <a:rPr lang="en-IN" smtClean="0"/>
              <a:t>1</a:t>
            </a:fld>
            <a:endParaRPr lang="en-IN"/>
          </a:p>
        </p:txBody>
      </p:sp>
    </p:spTree>
    <p:extLst>
      <p:ext uri="{BB962C8B-B14F-4D97-AF65-F5344CB8AC3E}">
        <p14:creationId xmlns:p14="http://schemas.microsoft.com/office/powerpoint/2010/main" val="2335726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FA66E33-0C88-4211-9C3A-5E241118C80B}" type="slidenum">
              <a:rPr lang="en-IN" smtClean="0"/>
              <a:t>4</a:t>
            </a:fld>
            <a:endParaRPr lang="en-IN"/>
          </a:p>
        </p:txBody>
      </p:sp>
      <p:sp>
        <p:nvSpPr>
          <p:cNvPr id="5" name="Date Placeholder 4"/>
          <p:cNvSpPr>
            <a:spLocks noGrp="1"/>
          </p:cNvSpPr>
          <p:nvPr>
            <p:ph type="dt" idx="11"/>
          </p:nvPr>
        </p:nvSpPr>
        <p:spPr/>
        <p:txBody>
          <a:bodyPr/>
          <a:lstStyle/>
          <a:p>
            <a:fld id="{6E9B7091-69C5-4CF7-8416-770ACF6B387E}" type="datetime1">
              <a:rPr lang="en-IN" smtClean="0"/>
              <a:t>12-04-2025</a:t>
            </a:fld>
            <a:endParaRPr lang="en-IN"/>
          </a:p>
        </p:txBody>
      </p:sp>
      <p:sp>
        <p:nvSpPr>
          <p:cNvPr id="6" name="Header Placeholder 5"/>
          <p:cNvSpPr>
            <a:spLocks noGrp="1"/>
          </p:cNvSpPr>
          <p:nvPr>
            <p:ph type="hdr" sz="quarter" idx="12"/>
          </p:nvPr>
        </p:nvSpPr>
        <p:spPr/>
        <p:txBody>
          <a:bodyPr/>
          <a:lstStyle/>
          <a:p>
            <a:endParaRPr lang="en-IN"/>
          </a:p>
        </p:txBody>
      </p:sp>
    </p:spTree>
    <p:extLst>
      <p:ext uri="{BB962C8B-B14F-4D97-AF65-F5344CB8AC3E}">
        <p14:creationId xmlns:p14="http://schemas.microsoft.com/office/powerpoint/2010/main" val="2293797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p:nvPr>
        </p:nvSpPr>
        <p:spPr/>
        <p:txBody>
          <a:bodyPr/>
          <a:lstStyle/>
          <a:p>
            <a:endParaRPr lang="en-IN"/>
          </a:p>
        </p:txBody>
      </p:sp>
      <p:sp>
        <p:nvSpPr>
          <p:cNvPr id="5" name="Date Placeholder 4"/>
          <p:cNvSpPr>
            <a:spLocks noGrp="1"/>
          </p:cNvSpPr>
          <p:nvPr>
            <p:ph type="dt" idx="1"/>
          </p:nvPr>
        </p:nvSpPr>
        <p:spPr/>
        <p:txBody>
          <a:bodyPr/>
          <a:lstStyle/>
          <a:p>
            <a:fld id="{F0A59FA1-0241-4386-B9F3-AE5F3A61A4A7}" type="datetime1">
              <a:rPr lang="en-IN" smtClean="0"/>
              <a:t>12-04-2025</a:t>
            </a:fld>
            <a:endParaRPr lang="en-IN"/>
          </a:p>
        </p:txBody>
      </p:sp>
      <p:sp>
        <p:nvSpPr>
          <p:cNvPr id="6" name="Slide Number Placeholder 5"/>
          <p:cNvSpPr>
            <a:spLocks noGrp="1"/>
          </p:cNvSpPr>
          <p:nvPr>
            <p:ph type="sldNum" sz="quarter" idx="5"/>
          </p:nvPr>
        </p:nvSpPr>
        <p:spPr/>
        <p:txBody>
          <a:bodyPr/>
          <a:lstStyle/>
          <a:p>
            <a:fld id="{7FA66E33-0C88-4211-9C3A-5E241118C80B}" type="slidenum">
              <a:rPr lang="en-IN" smtClean="0"/>
              <a:t>19</a:t>
            </a:fld>
            <a:endParaRPr lang="en-IN"/>
          </a:p>
        </p:txBody>
      </p:sp>
    </p:spTree>
    <p:extLst>
      <p:ext uri="{BB962C8B-B14F-4D97-AF65-F5344CB8AC3E}">
        <p14:creationId xmlns:p14="http://schemas.microsoft.com/office/powerpoint/2010/main" val="3844991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p:nvPr>
        </p:nvSpPr>
        <p:spPr/>
        <p:txBody>
          <a:bodyPr/>
          <a:lstStyle/>
          <a:p>
            <a:endParaRPr lang="en-IN"/>
          </a:p>
        </p:txBody>
      </p:sp>
      <p:sp>
        <p:nvSpPr>
          <p:cNvPr id="5" name="Date Placeholder 4"/>
          <p:cNvSpPr>
            <a:spLocks noGrp="1"/>
          </p:cNvSpPr>
          <p:nvPr>
            <p:ph type="dt" idx="1"/>
          </p:nvPr>
        </p:nvSpPr>
        <p:spPr/>
        <p:txBody>
          <a:bodyPr/>
          <a:lstStyle/>
          <a:p>
            <a:fld id="{F0A59FA1-0241-4386-B9F3-AE5F3A61A4A7}" type="datetime1">
              <a:rPr lang="en-IN" smtClean="0"/>
              <a:t>12-04-2025</a:t>
            </a:fld>
            <a:endParaRPr lang="en-IN"/>
          </a:p>
        </p:txBody>
      </p:sp>
      <p:sp>
        <p:nvSpPr>
          <p:cNvPr id="6" name="Slide Number Placeholder 5"/>
          <p:cNvSpPr>
            <a:spLocks noGrp="1"/>
          </p:cNvSpPr>
          <p:nvPr>
            <p:ph type="sldNum" sz="quarter" idx="5"/>
          </p:nvPr>
        </p:nvSpPr>
        <p:spPr/>
        <p:txBody>
          <a:bodyPr/>
          <a:lstStyle/>
          <a:p>
            <a:fld id="{7FA66E33-0C88-4211-9C3A-5E241118C80B}" type="slidenum">
              <a:rPr lang="en-IN" smtClean="0"/>
              <a:t>22</a:t>
            </a:fld>
            <a:endParaRPr lang="en-IN"/>
          </a:p>
        </p:txBody>
      </p:sp>
    </p:spTree>
    <p:extLst>
      <p:ext uri="{BB962C8B-B14F-4D97-AF65-F5344CB8AC3E}">
        <p14:creationId xmlns:p14="http://schemas.microsoft.com/office/powerpoint/2010/main" val="532147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06F676E-C7AD-473C-A816-AA85BD5D68C4}" type="datetime1">
              <a:rPr lang="en-IN" smtClean="0"/>
              <a:t>12-04-2025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834209818"/>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013B94-742D-48D3-8FAB-AFA19A2F562D}" type="datetime1">
              <a:rPr lang="en-IN" smtClean="0"/>
              <a:t>12-04-2025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907759199"/>
      </p:ext>
    </p:extLst>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699E7-8785-4E44-B320-DFD041AD8CD5}" type="datetime1">
              <a:rPr lang="en-IN" smtClean="0"/>
              <a:t>12-04-2025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630602934"/>
      </p:ext>
    </p:extLst>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F43FABB-6EEE-4A16-A212-9055CFBB4085}" type="datetime1">
              <a:rPr lang="en-IN" smtClean="0"/>
              <a:t>12-04-2025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1319737472"/>
      </p:ext>
    </p:extLst>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807D41-23CF-4050-906B-16804A8FE85E}" type="datetime1">
              <a:rPr lang="en-IN" smtClean="0"/>
              <a:t>12-04-2025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3152430729"/>
      </p:ext>
    </p:extLst>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392B7E-44CF-48F1-87CC-A61C82524D38}" type="datetime1">
              <a:rPr lang="en-IN" smtClean="0"/>
              <a:t>12-04-2025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90956878"/>
      </p:ext>
    </p:extLst>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43351-109D-42C9-8BD6-281C6608D771}" type="datetime1">
              <a:rPr lang="en-IN" smtClean="0"/>
              <a:t>12-04-2025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980362194"/>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88D254-F59B-434E-A3B4-CA93A111A004}" type="datetime1">
              <a:rPr lang="en-IN" smtClean="0"/>
              <a:t>12-04-2025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751476275"/>
      </p:ext>
    </p:extLst>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449517-4CD1-49D2-AB74-6B32FA15035D}" type="datetime1">
              <a:rPr lang="en-IN" smtClean="0"/>
              <a:t>12-04-2025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730277174"/>
      </p:ext>
    </p:extLst>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B60A91-F398-48BF-896E-3B8F0FE0EDBE}" type="datetime1">
              <a:rPr lang="en-IN" smtClean="0"/>
              <a:t>12-04-2025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3282279857"/>
      </p:ext>
    </p:extLst>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9E9D4CC-2580-4F9E-BBBA-A8068DBDE922}" type="datetime1">
              <a:rPr lang="en-IN" smtClean="0"/>
              <a:t>12-04-2025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4184640369"/>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D79E0D-360A-46C1-9DAF-82FEC8E8E546}" type="datetime1">
              <a:rPr lang="en-IN" smtClean="0"/>
              <a:t>12-04-2025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CD4CE9-F1A3-4728-B74D-DBF6FEAF9982}" type="slidenum">
              <a:rPr lang="en-IN" smtClean="0"/>
              <a:t>‹#›</a:t>
            </a:fld>
            <a:endParaRPr lang="en-IN"/>
          </a:p>
        </p:txBody>
      </p:sp>
    </p:spTree>
    <p:extLst>
      <p:ext uri="{BB962C8B-B14F-4D97-AF65-F5344CB8AC3E}">
        <p14:creationId xmlns:p14="http://schemas.microsoft.com/office/powerpoint/2010/main" val="2011757551"/>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transition spd="slow">
    <p:cover/>
  </p:transition>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EBD28FE-C339-4B85-9ADA-4874000C2C14}"/>
              </a:ext>
            </a:extLst>
          </p:cNvPr>
          <p:cNvSpPr>
            <a:spLocks noGrp="1"/>
          </p:cNvSpPr>
          <p:nvPr/>
        </p:nvSpPr>
        <p:spPr>
          <a:xfrm>
            <a:off x="1514168" y="2066510"/>
            <a:ext cx="9144001" cy="1323515"/>
          </a:xfrm>
          <a:prstGeom prst="rect">
            <a:avLst/>
          </a:prstGeom>
        </p:spPr>
        <p:txBody>
          <a:bodyPr vert="horz" lIns="91440" tIns="45720" rIns="91440" bIns="45720" rtlCol="0" anchor="b">
            <a:normAutofit fontScale="97500"/>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br>
              <a:rPr lang="en-US" sz="2700" b="1" u="sng" dirty="0">
                <a:solidFill>
                  <a:schemeClr val="tx1"/>
                </a:solidFill>
                <a:latin typeface="Times New Roman" panose="02020603050405020304" pitchFamily="18" charset="0"/>
                <a:cs typeface="Times New Roman" panose="02020603050405020304" pitchFamily="18" charset="0"/>
              </a:rPr>
            </a:br>
            <a:r>
              <a:rPr lang="en-US" sz="2200" b="1" u="sng" dirty="0">
                <a:solidFill>
                  <a:schemeClr val="tx1"/>
                </a:solidFill>
                <a:latin typeface="Times New Roman" panose="02020603050405020304" pitchFamily="18" charset="0"/>
                <a:cs typeface="Times New Roman" panose="02020603050405020304" pitchFamily="18" charset="0"/>
              </a:rPr>
              <a:t>MAJOR PROJECT SYSTEM </a:t>
            </a:r>
            <a:r>
              <a:rPr lang="en-US" sz="2200" b="1" u="sng" dirty="0">
                <a:latin typeface="Times New Roman" panose="02020603050405020304" pitchFamily="18" charset="0"/>
                <a:cs typeface="Times New Roman" panose="02020603050405020304" pitchFamily="18" charset="0"/>
              </a:rPr>
              <a:t>DESIGN </a:t>
            </a:r>
            <a:r>
              <a:rPr lang="en-US" sz="2200" b="1" u="sng" dirty="0">
                <a:solidFill>
                  <a:schemeClr val="tx1"/>
                </a:solidFill>
                <a:latin typeface="Times New Roman" panose="02020603050405020304" pitchFamily="18" charset="0"/>
                <a:cs typeface="Times New Roman" panose="02020603050405020304" pitchFamily="18" charset="0"/>
              </a:rPr>
              <a:t>REVIEW </a:t>
            </a:r>
            <a:br>
              <a:rPr lang="en-US" sz="2700" b="1" u="sng" dirty="0">
                <a:solidFill>
                  <a:schemeClr val="tx1"/>
                </a:solidFill>
                <a:latin typeface="Times New Roman" panose="02020603050405020304" pitchFamily="18" charset="0"/>
                <a:cs typeface="Times New Roman" panose="02020603050405020304" pitchFamily="18" charset="0"/>
              </a:rPr>
            </a:br>
            <a:br>
              <a:rPr lang="en-US" sz="2100" b="1" dirty="0">
                <a:solidFill>
                  <a:schemeClr val="tx1"/>
                </a:solidFill>
                <a:latin typeface="Times New Roman" panose="02020603050405020304" pitchFamily="18" charset="0"/>
                <a:cs typeface="Times New Roman" panose="02020603050405020304" pitchFamily="18" charset="0"/>
              </a:rPr>
            </a:br>
            <a:r>
              <a:rPr lang="en-US" sz="2100" b="1" dirty="0">
                <a:solidFill>
                  <a:schemeClr val="tx1"/>
                </a:solidFill>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TITLE: </a:t>
            </a:r>
            <a:r>
              <a:rPr lang="en-US" sz="2100" b="1" dirty="0">
                <a:effectLst/>
                <a:latin typeface="Times New Roman" panose="02020603050405020304" pitchFamily="18" charset="0"/>
                <a:ea typeface="DengXian" panose="020B0503020204020204" pitchFamily="2" charset="-122"/>
                <a:cs typeface="Times New Roman" panose="02020603050405020304" pitchFamily="18" charset="0"/>
              </a:rPr>
              <a:t>SHIELD MASK DETECTION SYSTEM USING DEEP LEARNING</a:t>
            </a:r>
            <a:endParaRPr lang="en-IN" sz="2100" dirty="0">
              <a:effectLst/>
              <a:latin typeface="Calibri" panose="020F0502020204030204" pitchFamily="34" charset="0"/>
              <a:ea typeface="DengXian" panose="020B0503020204020204" pitchFamily="2" charset="-122"/>
              <a:cs typeface="Times New Roman" panose="02020603050405020304" pitchFamily="18" charset="0"/>
            </a:endParaRPr>
          </a:p>
          <a:p>
            <a:endParaRPr lang="en-IN" sz="2200" b="1" dirty="0">
              <a:latin typeface="Times New Roman" panose="02020603050405020304" pitchFamily="18" charset="0"/>
              <a:cs typeface="Times New Roman" panose="02020603050405020304" pitchFamily="18" charset="0"/>
            </a:endParaRPr>
          </a:p>
        </p:txBody>
      </p:sp>
      <p:sp>
        <p:nvSpPr>
          <p:cNvPr id="15" name="Subtitle 2">
            <a:extLst>
              <a:ext uri="{FF2B5EF4-FFF2-40B4-BE49-F238E27FC236}">
                <a16:creationId xmlns:a16="http://schemas.microsoft.com/office/drawing/2014/main" id="{83F6D609-5DA3-319B-2F8E-D4C1C7EF0398}"/>
              </a:ext>
            </a:extLst>
          </p:cNvPr>
          <p:cNvSpPr>
            <a:spLocks noGrp="1"/>
          </p:cNvSpPr>
          <p:nvPr/>
        </p:nvSpPr>
        <p:spPr>
          <a:xfrm>
            <a:off x="7232448" y="4483832"/>
            <a:ext cx="4709650" cy="1968663"/>
          </a:xfrm>
          <a:prstGeom prst="rect">
            <a:avLst/>
          </a:prstGeom>
        </p:spPr>
        <p:txBody>
          <a:bodyPr vert="horz" lIns="91440" tIns="45720" rIns="91440" bIns="45720" rtlCol="0">
            <a:normAutofit/>
          </a:bodyPr>
          <a:lstStyle>
            <a:defPPr>
              <a:defRPr lang="en-US"/>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b="1" u="sng">
                <a:solidFill>
                  <a:schemeClr val="tx1"/>
                </a:solidFill>
                <a:latin typeface="Times New Roman" panose="02020603050405020304" pitchFamily="18" charset="0"/>
                <a:cs typeface="Times New Roman" panose="02020603050405020304" pitchFamily="18" charset="0"/>
              </a:rPr>
              <a:t>Team Members (21MP019):</a:t>
            </a:r>
            <a:endParaRPr lang="en-US" sz="2000" b="1">
              <a:solidFill>
                <a:schemeClr val="tx1"/>
              </a:solidFill>
              <a:latin typeface="Times New Roman" panose="02020603050405020304" pitchFamily="18" charset="0"/>
              <a:cs typeface="Times New Roman" panose="02020603050405020304" pitchFamily="18" charset="0"/>
            </a:endParaRPr>
          </a:p>
          <a:p>
            <a:pPr algn="l"/>
            <a:r>
              <a:rPr lang="en-US" sz="2000" b="1">
                <a:latin typeface="Times New Roman" panose="02020603050405020304" pitchFamily="18" charset="0"/>
                <a:cs typeface="Times New Roman" panose="02020603050405020304" pitchFamily="18" charset="0"/>
              </a:rPr>
              <a:t>D. Bindu                               (22P65A0504)</a:t>
            </a:r>
            <a:endParaRPr lang="en-US" sz="2000" b="1">
              <a:solidFill>
                <a:schemeClr val="tx1"/>
              </a:solidFill>
              <a:latin typeface="Times New Roman" panose="02020603050405020304" pitchFamily="18" charset="0"/>
              <a:cs typeface="Times New Roman" panose="02020603050405020304" pitchFamily="18" charset="0"/>
            </a:endParaRPr>
          </a:p>
          <a:p>
            <a:pPr algn="l"/>
            <a:r>
              <a:rPr lang="en-US" sz="2000" b="1">
                <a:latin typeface="Times New Roman" panose="02020603050405020304" pitchFamily="18" charset="0"/>
                <a:cs typeface="Times New Roman" panose="02020603050405020304" pitchFamily="18" charset="0"/>
              </a:rPr>
              <a:t>K. Shiva Shankar Reddy    (22P65A0506)</a:t>
            </a:r>
            <a:endParaRPr lang="en-US" sz="2000" b="1">
              <a:solidFill>
                <a:schemeClr val="tx1"/>
              </a:solidFill>
              <a:latin typeface="Times New Roman" panose="02020603050405020304" pitchFamily="18" charset="0"/>
              <a:cs typeface="Times New Roman" panose="02020603050405020304" pitchFamily="18" charset="0"/>
            </a:endParaRPr>
          </a:p>
          <a:p>
            <a:pPr algn="l"/>
            <a:r>
              <a:rPr lang="en-US" sz="2000" b="1">
                <a:latin typeface="Times New Roman" panose="02020603050405020304" pitchFamily="18" charset="0"/>
                <a:cs typeface="Times New Roman" panose="02020603050405020304" pitchFamily="18" charset="0"/>
              </a:rPr>
              <a:t>K. Pranay Chandra             (22P65A0507)</a:t>
            </a:r>
            <a:endParaRPr lang="en-US" sz="2000" b="1">
              <a:solidFill>
                <a:schemeClr val="tx1"/>
              </a:solidFill>
              <a:latin typeface="Times New Roman" panose="02020603050405020304" pitchFamily="18" charset="0"/>
              <a:cs typeface="Times New Roman" panose="02020603050405020304" pitchFamily="18" charset="0"/>
            </a:endParaRPr>
          </a:p>
        </p:txBody>
      </p:sp>
      <p:sp>
        <p:nvSpPr>
          <p:cNvPr id="16" name="Slide Number Placeholder 6">
            <a:extLst>
              <a:ext uri="{FF2B5EF4-FFF2-40B4-BE49-F238E27FC236}">
                <a16:creationId xmlns:a16="http://schemas.microsoft.com/office/drawing/2014/main" id="{B1C3663B-1F80-A0AC-23EF-395E2C782DA0}"/>
              </a:ext>
            </a:extLst>
          </p:cNvPr>
          <p:cNvSpPr>
            <a:spLocks noGrp="1"/>
          </p:cNvSpPr>
          <p:nvPr/>
        </p:nvSpPr>
        <p:spPr>
          <a:xfrm>
            <a:off x="9005529" y="6325547"/>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9CD4CE9-F1A3-4728-B74D-DBF6FEAF9982}" type="slidenum">
              <a:rPr lang="en-IN" sz="1600" smtClean="0"/>
              <a:pPr/>
              <a:t>1</a:t>
            </a:fld>
            <a:endParaRPr lang="en-IN" sz="1600"/>
          </a:p>
        </p:txBody>
      </p:sp>
      <p:sp>
        <p:nvSpPr>
          <p:cNvPr id="17" name="TextBox 3">
            <a:extLst>
              <a:ext uri="{FF2B5EF4-FFF2-40B4-BE49-F238E27FC236}">
                <a16:creationId xmlns:a16="http://schemas.microsoft.com/office/drawing/2014/main" id="{613112D3-93D6-C1FE-73A6-31F2DFA17AB2}"/>
              </a:ext>
            </a:extLst>
          </p:cNvPr>
          <p:cNvSpPr txBox="1"/>
          <p:nvPr/>
        </p:nvSpPr>
        <p:spPr>
          <a:xfrm>
            <a:off x="249903" y="4550884"/>
            <a:ext cx="4709651" cy="132343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000" b="1">
                <a:latin typeface="Times New Roman" panose="02020603050405020304" pitchFamily="18" charset="0"/>
                <a:cs typeface="Times New Roman" panose="02020603050405020304" pitchFamily="18" charset="0"/>
              </a:rPr>
              <a:t>  </a:t>
            </a:r>
            <a:r>
              <a:rPr lang="en-US" sz="2000" b="1" u="sng">
                <a:latin typeface="Times New Roman" panose="02020603050405020304" pitchFamily="18" charset="0"/>
                <a:cs typeface="Times New Roman" panose="02020603050405020304" pitchFamily="18" charset="0"/>
              </a:rPr>
              <a:t>Project Guide:</a:t>
            </a:r>
          </a:p>
          <a:p>
            <a:pPr algn="ctr"/>
            <a:r>
              <a:rPr lang="en-US" sz="2000" b="1" err="1">
                <a:latin typeface="Times New Roman" panose="02020603050405020304" pitchFamily="18" charset="0"/>
                <a:ea typeface="Tahoma" panose="020B0604030504040204" pitchFamily="34" charset="0"/>
                <a:cs typeface="Times New Roman" panose="02020603050405020304" pitchFamily="18" charset="0"/>
              </a:rPr>
              <a:t>Dr.G.Ashok</a:t>
            </a:r>
            <a:r>
              <a:rPr lang="en-US" sz="2000" b="1">
                <a:latin typeface="Times New Roman" panose="02020603050405020304" pitchFamily="18" charset="0"/>
                <a:ea typeface="Tahoma" panose="020B0604030504040204" pitchFamily="34" charset="0"/>
                <a:cs typeface="Times New Roman" panose="02020603050405020304" pitchFamily="18" charset="0"/>
              </a:rPr>
              <a:t> Kumar</a:t>
            </a:r>
          </a:p>
          <a:p>
            <a:pPr algn="ctr"/>
            <a:r>
              <a:rPr lang="en-US" sz="2000" b="1">
                <a:solidFill>
                  <a:srgbClr val="32373C"/>
                </a:solidFill>
                <a:latin typeface="Times New Roman" panose="02020603050405020304" pitchFamily="18" charset="0"/>
                <a:ea typeface="Tahoma" panose="020B0604030504040204" pitchFamily="34" charset="0"/>
                <a:cs typeface="Times New Roman" panose="02020603050405020304" pitchFamily="18" charset="0"/>
              </a:rPr>
              <a:t>Associate Professor</a:t>
            </a:r>
            <a:endParaRPr lang="en-US" sz="2000">
              <a:latin typeface="Times New Roman" panose="02020603050405020304" pitchFamily="18" charset="0"/>
              <a:ea typeface="Tahoma" panose="020B0604030504040204" pitchFamily="34"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sp>
        <p:nvSpPr>
          <p:cNvPr id="18" name="TextBox 4">
            <a:extLst>
              <a:ext uri="{FF2B5EF4-FFF2-40B4-BE49-F238E27FC236}">
                <a16:creationId xmlns:a16="http://schemas.microsoft.com/office/drawing/2014/main" id="{6E5ED9B0-11AE-C0F1-E97C-EEBD310143E8}"/>
              </a:ext>
            </a:extLst>
          </p:cNvPr>
          <p:cNvSpPr txBox="1"/>
          <p:nvPr/>
        </p:nvSpPr>
        <p:spPr>
          <a:xfrm>
            <a:off x="1820604" y="1389836"/>
            <a:ext cx="10068232"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IN" sz="2000" b="1">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429120CC-5545-23FF-703F-490E7D4302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3911" y="122270"/>
            <a:ext cx="10257347" cy="1493016"/>
          </a:xfrm>
          <a:prstGeom prst="rect">
            <a:avLst/>
          </a:prstGeom>
        </p:spPr>
      </p:pic>
      <p:sp>
        <p:nvSpPr>
          <p:cNvPr id="20" name="TextBox 10">
            <a:extLst>
              <a:ext uri="{FF2B5EF4-FFF2-40B4-BE49-F238E27FC236}">
                <a16:creationId xmlns:a16="http://schemas.microsoft.com/office/drawing/2014/main" id="{1D49AC7F-EC32-049A-EFD5-F612F0E93934}"/>
              </a:ext>
            </a:extLst>
          </p:cNvPr>
          <p:cNvSpPr txBox="1"/>
          <p:nvPr/>
        </p:nvSpPr>
        <p:spPr>
          <a:xfrm>
            <a:off x="1514168" y="1669296"/>
            <a:ext cx="9153832"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a:latin typeface="Times New Roman" panose="02020603050405020304" pitchFamily="18" charset="0"/>
                <a:cs typeface="Times New Roman" panose="02020603050405020304" pitchFamily="18" charset="0"/>
              </a:rPr>
              <a:t>DEPARTMENT OF COMPUTER SCIENCE AND ENGINEERING</a:t>
            </a:r>
          </a:p>
        </p:txBody>
      </p:sp>
      <p:sp>
        <p:nvSpPr>
          <p:cNvPr id="21" name="Date Placeholder 5">
            <a:extLst>
              <a:ext uri="{FF2B5EF4-FFF2-40B4-BE49-F238E27FC236}">
                <a16:creationId xmlns:a16="http://schemas.microsoft.com/office/drawing/2014/main" id="{AF5E0F80-B3EE-D8E5-0D9F-64F1E26B6E6C}"/>
              </a:ext>
            </a:extLst>
          </p:cNvPr>
          <p:cNvSpPr>
            <a:spLocks noGrp="1"/>
          </p:cNvSpPr>
          <p:nvPr/>
        </p:nvSpPr>
        <p:spPr>
          <a:xfrm>
            <a:off x="1233129" y="6325547"/>
            <a:ext cx="27432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0B4C2E0-F28C-4B2F-BEC1-17711C4EC78E}" type="datetime1">
              <a:rPr lang="en-IN" smtClean="0"/>
              <a:pPr/>
              <a:t>12-04-2025</a:t>
            </a:fld>
            <a:endParaRPr lang="en-IN"/>
          </a:p>
        </p:txBody>
      </p:sp>
    </p:spTree>
    <p:extLst>
      <p:ext uri="{BB962C8B-B14F-4D97-AF65-F5344CB8AC3E}">
        <p14:creationId xmlns:p14="http://schemas.microsoft.com/office/powerpoint/2010/main" val="2314816490"/>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3AF225-BAA8-0DA6-CABD-134797BDA032}"/>
              </a:ext>
            </a:extLst>
          </p:cNvPr>
          <p:cNvSpPr>
            <a:spLocks noGrp="1"/>
          </p:cNvSpPr>
          <p:nvPr>
            <p:ph type="sldNum" sz="quarter" idx="12"/>
          </p:nvPr>
        </p:nvSpPr>
        <p:spPr>
          <a:xfrm>
            <a:off x="8646242" y="6247497"/>
            <a:ext cx="2743200" cy="365125"/>
          </a:xfrm>
        </p:spPr>
        <p:txBody>
          <a:bodyPr/>
          <a:lstStyle/>
          <a:p>
            <a:r>
              <a:rPr lang="en-US" sz="1600" dirty="0">
                <a:solidFill>
                  <a:schemeClr val="tx1"/>
                </a:solidFill>
              </a:rPr>
              <a:t>2</a:t>
            </a:r>
            <a:endParaRPr lang="en-IN" sz="1600" dirty="0">
              <a:solidFill>
                <a:schemeClr val="tx1"/>
              </a:solidFill>
            </a:endParaRPr>
          </a:p>
        </p:txBody>
      </p:sp>
      <p:sp>
        <p:nvSpPr>
          <p:cNvPr id="6" name="TextBox 5">
            <a:extLst>
              <a:ext uri="{FF2B5EF4-FFF2-40B4-BE49-F238E27FC236}">
                <a16:creationId xmlns:a16="http://schemas.microsoft.com/office/drawing/2014/main" id="{2F3050A8-0C00-3A11-B230-B07B21E9289D}"/>
              </a:ext>
            </a:extLst>
          </p:cNvPr>
          <p:cNvSpPr txBox="1"/>
          <p:nvPr/>
        </p:nvSpPr>
        <p:spPr>
          <a:xfrm>
            <a:off x="478971" y="601959"/>
            <a:ext cx="11016343" cy="5770041"/>
          </a:xfrm>
          <a:prstGeom prst="rect">
            <a:avLst/>
          </a:prstGeom>
          <a:noFill/>
        </p:spPr>
        <p:txBody>
          <a:bodyPr wrap="square" rtlCol="0">
            <a:spAutoFit/>
          </a:bodyPr>
          <a:lstStyle/>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Abstract</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Introduction</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Problem statement</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Literature Survey</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Existing system</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Proposed system</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Objective </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Proposed Methodology</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Requirements &amp; Specification</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Project Time Plan</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System Design</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Conclusion</a:t>
            </a:r>
          </a:p>
          <a:p>
            <a:pPr marL="342900" indent="-342900" algn="just">
              <a:lnSpc>
                <a:spcPct val="13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References</a:t>
            </a:r>
          </a:p>
        </p:txBody>
      </p:sp>
      <p:sp>
        <p:nvSpPr>
          <p:cNvPr id="3" name="Title 1">
            <a:extLst>
              <a:ext uri="{FF2B5EF4-FFF2-40B4-BE49-F238E27FC236}">
                <a16:creationId xmlns:a16="http://schemas.microsoft.com/office/drawing/2014/main" id="{BE3B757E-FB15-995B-7545-0CCF2D46A292}"/>
              </a:ext>
            </a:extLst>
          </p:cNvPr>
          <p:cNvSpPr txBox="1">
            <a:spLocks/>
          </p:cNvSpPr>
          <p:nvPr/>
        </p:nvSpPr>
        <p:spPr>
          <a:xfrm>
            <a:off x="1171476" y="4548971"/>
            <a:ext cx="10380690" cy="211187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0" fontAlgn="base" latinLnBrk="0" hangingPunct="0">
              <a:lnSpc>
                <a:spcPct val="100000"/>
              </a:lnSpc>
              <a:spcBef>
                <a:spcPct val="0"/>
              </a:spcBef>
              <a:spcAft>
                <a:spcPct val="0"/>
              </a:spcAft>
              <a:buClrTx/>
              <a:buSzTx/>
              <a:tabLst/>
            </a:pPr>
            <a:endParaRPr lang="en-IN" sz="160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67D59B85-3AEE-6463-A3D9-D90A9A60FCE6}"/>
              </a:ext>
            </a:extLst>
          </p:cNvPr>
          <p:cNvSpPr>
            <a:spLocks noChangeArrowheads="1"/>
          </p:cNvSpPr>
          <p:nvPr/>
        </p:nvSpPr>
        <p:spPr bwMode="auto">
          <a:xfrm>
            <a:off x="2362200" y="2941142"/>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0"/>
            <a:ext cx="1422400" cy="928913"/>
          </a:xfrm>
          <a:prstGeom prst="rect">
            <a:avLst/>
          </a:prstGeom>
        </p:spPr>
      </p:pic>
      <p:sp>
        <p:nvSpPr>
          <p:cNvPr id="7" name="Rectangle 6"/>
          <p:cNvSpPr/>
          <p:nvPr/>
        </p:nvSpPr>
        <p:spPr>
          <a:xfrm>
            <a:off x="5172090" y="210848"/>
            <a:ext cx="1604927" cy="461665"/>
          </a:xfrm>
          <a:prstGeom prst="rect">
            <a:avLst/>
          </a:prstGeom>
        </p:spPr>
        <p:txBody>
          <a:bodyPr wrap="none">
            <a:spAutoFit/>
          </a:bodyPr>
          <a:lstStyle/>
          <a:p>
            <a:r>
              <a:rPr lang="en-US" sz="2400" b="1">
                <a:latin typeface="Times New Roman" panose="02020603050405020304" pitchFamily="18" charset="0"/>
                <a:cs typeface="Times New Roman" panose="02020603050405020304" pitchFamily="18" charset="0"/>
              </a:rPr>
              <a:t>OUTLINE</a:t>
            </a:r>
            <a:endParaRPr lang="en-IN" sz="2400"/>
          </a:p>
        </p:txBody>
      </p:sp>
      <p:sp>
        <p:nvSpPr>
          <p:cNvPr id="13" name="Date Placeholder 12"/>
          <p:cNvSpPr>
            <a:spLocks noGrp="1"/>
          </p:cNvSpPr>
          <p:nvPr>
            <p:ph type="dt" sz="half" idx="10"/>
          </p:nvPr>
        </p:nvSpPr>
        <p:spPr/>
        <p:txBody>
          <a:bodyPr/>
          <a:lstStyle/>
          <a:p>
            <a:fld id="{23107CEA-DD57-428F-9D8A-BDBA9F595E3E}" type="datetime1">
              <a:rPr lang="en-IN" smtClean="0"/>
              <a:t>12-04-2025</a:t>
            </a:fld>
            <a:endParaRPr lang="en-IN"/>
          </a:p>
        </p:txBody>
      </p:sp>
      <p:cxnSp>
        <p:nvCxnSpPr>
          <p:cNvPr id="2" name="Straight Connector 1">
            <a:extLst>
              <a:ext uri="{FF2B5EF4-FFF2-40B4-BE49-F238E27FC236}">
                <a16:creationId xmlns:a16="http://schemas.microsoft.com/office/drawing/2014/main" id="{9CE0FDD8-38A1-B7A6-3ED5-C7D0EFCF73CB}"/>
              </a:ext>
            </a:extLst>
          </p:cNvPr>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62761609"/>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3AF225-BAA8-0DA6-CABD-134797BDA032}"/>
              </a:ext>
            </a:extLst>
          </p:cNvPr>
          <p:cNvSpPr>
            <a:spLocks noGrp="1"/>
          </p:cNvSpPr>
          <p:nvPr>
            <p:ph type="sldNum" sz="quarter" idx="12"/>
          </p:nvPr>
        </p:nvSpPr>
        <p:spPr>
          <a:xfrm>
            <a:off x="8646242" y="6247497"/>
            <a:ext cx="2743200" cy="365125"/>
          </a:xfrm>
        </p:spPr>
        <p:txBody>
          <a:bodyPr/>
          <a:lstStyle/>
          <a:p>
            <a:r>
              <a:rPr lang="en-IN" sz="1600">
                <a:solidFill>
                  <a:schemeClr val="tx1"/>
                </a:solidFill>
              </a:rPr>
              <a:t>3</a:t>
            </a:r>
          </a:p>
        </p:txBody>
      </p:sp>
      <p:sp>
        <p:nvSpPr>
          <p:cNvPr id="3" name="Title 1">
            <a:extLst>
              <a:ext uri="{FF2B5EF4-FFF2-40B4-BE49-F238E27FC236}">
                <a16:creationId xmlns:a16="http://schemas.microsoft.com/office/drawing/2014/main" id="{BE3B757E-FB15-995B-7545-0CCF2D46A292}"/>
              </a:ext>
            </a:extLst>
          </p:cNvPr>
          <p:cNvSpPr txBox="1">
            <a:spLocks/>
          </p:cNvSpPr>
          <p:nvPr/>
        </p:nvSpPr>
        <p:spPr>
          <a:xfrm>
            <a:off x="1171476" y="4548971"/>
            <a:ext cx="10380690" cy="211187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0" fontAlgn="base" latinLnBrk="0" hangingPunct="0">
              <a:lnSpc>
                <a:spcPct val="100000"/>
              </a:lnSpc>
              <a:spcBef>
                <a:spcPct val="0"/>
              </a:spcBef>
              <a:spcAft>
                <a:spcPct val="0"/>
              </a:spcAft>
              <a:buClrTx/>
              <a:buSzTx/>
              <a:tabLst/>
            </a:pPr>
            <a:endParaRPr lang="en-IN" sz="160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67D59B85-3AEE-6463-A3D9-D90A9A60FCE6}"/>
              </a:ext>
            </a:extLst>
          </p:cNvPr>
          <p:cNvSpPr>
            <a:spLocks noChangeArrowheads="1"/>
          </p:cNvSpPr>
          <p:nvPr/>
        </p:nvSpPr>
        <p:spPr bwMode="auto">
          <a:xfrm>
            <a:off x="2362200" y="2941142"/>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2067" y="12176"/>
            <a:ext cx="1466200" cy="957518"/>
          </a:xfrm>
          <a:prstGeom prst="rect">
            <a:avLst/>
          </a:prstGeom>
        </p:spPr>
      </p:pic>
      <p:sp>
        <p:nvSpPr>
          <p:cNvPr id="7" name="Rectangle 6"/>
          <p:cNvSpPr/>
          <p:nvPr/>
        </p:nvSpPr>
        <p:spPr>
          <a:xfrm>
            <a:off x="5172090" y="210848"/>
            <a:ext cx="1863011" cy="461665"/>
          </a:xfrm>
          <a:prstGeom prst="rect">
            <a:avLst/>
          </a:prstGeom>
        </p:spPr>
        <p:txBody>
          <a:bodyPr wrap="none">
            <a:spAutoFit/>
          </a:bodyPr>
          <a:lstStyle/>
          <a:p>
            <a:r>
              <a:rPr lang="en-US" sz="2400" b="1">
                <a:latin typeface="Times New Roman" panose="02020603050405020304" pitchFamily="18" charset="0"/>
                <a:cs typeface="Times New Roman" panose="02020603050405020304" pitchFamily="18" charset="0"/>
              </a:rPr>
              <a:t>ABSTRACT</a:t>
            </a:r>
            <a:endParaRPr lang="en-IN" sz="2400"/>
          </a:p>
        </p:txBody>
      </p:sp>
      <p:cxnSp>
        <p:nvCxnSpPr>
          <p:cNvPr id="11" name="Straight Connector 10"/>
          <p:cNvCxnSpPr>
            <a:cxnSpLocks/>
          </p:cNvCxnSpPr>
          <p:nvPr/>
        </p:nvCxnSpPr>
        <p:spPr>
          <a:xfrm>
            <a:off x="432079" y="667657"/>
            <a:ext cx="10482664" cy="0"/>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3" name="Date Placeholder 12"/>
          <p:cNvSpPr>
            <a:spLocks noGrp="1"/>
          </p:cNvSpPr>
          <p:nvPr>
            <p:ph type="dt" sz="half" idx="10"/>
          </p:nvPr>
        </p:nvSpPr>
        <p:spPr/>
        <p:txBody>
          <a:bodyPr/>
          <a:lstStyle/>
          <a:p>
            <a:fld id="{23107CEA-DD57-428F-9D8A-BDBA9F595E3E}" type="datetime1">
              <a:rPr lang="en-IN" smtClean="0"/>
              <a:t>12-04-2025</a:t>
            </a:fld>
            <a:endParaRPr lang="en-IN"/>
          </a:p>
        </p:txBody>
      </p:sp>
      <p:sp>
        <p:nvSpPr>
          <p:cNvPr id="8" name="Rectangle 2">
            <a:extLst>
              <a:ext uri="{FF2B5EF4-FFF2-40B4-BE49-F238E27FC236}">
                <a16:creationId xmlns:a16="http://schemas.microsoft.com/office/drawing/2014/main" id="{BD271E34-9C89-5659-0D9E-68D74AC5A0CB}"/>
              </a:ext>
            </a:extLst>
          </p:cNvPr>
          <p:cNvSpPr>
            <a:spLocks noChangeArrowheads="1"/>
          </p:cNvSpPr>
          <p:nvPr/>
        </p:nvSpPr>
        <p:spPr bwMode="auto">
          <a:xfrm>
            <a:off x="639834" y="1017913"/>
            <a:ext cx="10981895"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In the wake of global health crises, wearing protective gear such as face masks and face shields has become crucial for minimizing the spread of airborne diseases. This project presents a real-time Shield Mask Detection System that leverages deep learning techniques for classifying whether individuals are wearing a face mask, face shield, both, or none. </a:t>
            </a:r>
          </a:p>
          <a:p>
            <a:pPr marL="285750" indent="-285750" algn="just">
              <a:buFont typeface="Arial" panose="020B0604020202020204" pitchFamily="34" charset="0"/>
              <a:buChar char="•"/>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The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MobileNet</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model, known for its computational efficiency and accuracy, is trained on a custom dataset comprising images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labeled</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into four categories: with mask, with shield, with both, and without protection. </a:t>
            </a:r>
          </a:p>
          <a:p>
            <a:pPr marL="285750" indent="-285750" algn="just">
              <a:buFont typeface="Arial" panose="020B0604020202020204" pitchFamily="34" charset="0"/>
              <a:buChar char="•"/>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The training process involves image preprocessing, augmentation, and transfer learning to enhance model performance. Upon detecting a face using Haar Cascade, the system passes the region of interest to the trained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MobileNet</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model, which predicts the protective status in real time.</a:t>
            </a:r>
          </a:p>
          <a:p>
            <a:pPr marL="285750" indent="-285750" algn="just">
              <a:buFont typeface="Arial" panose="020B0604020202020204" pitchFamily="34" charset="0"/>
              <a:buChar char="•"/>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This deep learning-based detection system is designed to be deployed in public and private spaces to assist in enforcing health compliance measures. Its high accuracy, low computational cost, and real-time processing capability make it suitable for edge devices and embedded systems</a:t>
            </a:r>
          </a:p>
          <a:p>
            <a:pPr algn="just"/>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algn="just"/>
            <a:r>
              <a:rPr lang="en-IN" sz="1800" b="1" dirty="0" err="1">
                <a:effectLst/>
                <a:latin typeface="Times New Roman" panose="02020603050405020304" pitchFamily="18" charset="0"/>
                <a:ea typeface="DengXian" panose="020B0503020204020204" pitchFamily="2" charset="-122"/>
                <a:cs typeface="Times New Roman" panose="02020603050405020304" pitchFamily="18" charset="0"/>
              </a:rPr>
              <a:t>Keywords:</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Deep</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Learning,CNN</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(Convolutional Neural Network),</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MobileNet,Haar</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Cascade,Face</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Detection,Shield</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Mask Detection</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7721438"/>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B496D41-8810-D1C3-B164-7F5840F91998}"/>
              </a:ext>
            </a:extLst>
          </p:cNvPr>
          <p:cNvSpPr>
            <a:spLocks noGrp="1"/>
          </p:cNvSpPr>
          <p:nvPr>
            <p:ph type="sldNum" sz="quarter" idx="12"/>
          </p:nvPr>
        </p:nvSpPr>
        <p:spPr>
          <a:xfrm>
            <a:off x="8610600" y="6163493"/>
            <a:ext cx="2743200" cy="365125"/>
          </a:xfrm>
        </p:spPr>
        <p:txBody>
          <a:bodyPr/>
          <a:lstStyle/>
          <a:p>
            <a:fld id="{79CD4CE9-F1A3-4728-B74D-DBF6FEAF9982}" type="slidenum">
              <a:rPr lang="en-IN" sz="1600" smtClean="0">
                <a:solidFill>
                  <a:schemeClr val="tx1"/>
                </a:solidFill>
              </a:rPr>
              <a:t>4</a:t>
            </a:fld>
            <a:endParaRPr lang="en-IN" sz="1600">
              <a:solidFill>
                <a:schemeClr val="tx1"/>
              </a:solidFill>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69600" y="1"/>
            <a:ext cx="1422400" cy="1026542"/>
          </a:xfrm>
          <a:prstGeom prst="rect">
            <a:avLst/>
          </a:prstGeom>
        </p:spPr>
      </p:pic>
      <p:sp>
        <p:nvSpPr>
          <p:cNvPr id="12" name="Rectangle 11"/>
          <p:cNvSpPr/>
          <p:nvPr/>
        </p:nvSpPr>
        <p:spPr>
          <a:xfrm>
            <a:off x="4790052" y="0"/>
            <a:ext cx="2650084" cy="461665"/>
          </a:xfrm>
          <a:prstGeom prst="rect">
            <a:avLst/>
          </a:prstGeom>
        </p:spPr>
        <p:txBody>
          <a:bodyPr wrap="none">
            <a:spAutoFit/>
          </a:bodyPr>
          <a:lstStyle/>
          <a:p>
            <a:r>
              <a:rPr lang="en-US" sz="2400" b="1">
                <a:latin typeface="Times New Roman" panose="02020603050405020304" pitchFamily="18" charset="0"/>
                <a:cs typeface="Times New Roman" panose="02020603050405020304" pitchFamily="18" charset="0"/>
              </a:rPr>
              <a:t>INTRODUCTION</a:t>
            </a:r>
            <a:endParaRPr lang="en-IN" sz="2400"/>
          </a:p>
        </p:txBody>
      </p:sp>
      <p:cxnSp>
        <p:nvCxnSpPr>
          <p:cNvPr id="13" name="Straight Connector 12"/>
          <p:cNvCxnSpPr/>
          <p:nvPr/>
        </p:nvCxnSpPr>
        <p:spPr>
          <a:xfrm>
            <a:off x="609600" y="667657"/>
            <a:ext cx="10334171"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6" name="Date Placeholder 15"/>
          <p:cNvSpPr>
            <a:spLocks noGrp="1"/>
          </p:cNvSpPr>
          <p:nvPr>
            <p:ph type="dt" sz="half" idx="10"/>
          </p:nvPr>
        </p:nvSpPr>
        <p:spPr/>
        <p:txBody>
          <a:bodyPr/>
          <a:lstStyle/>
          <a:p>
            <a:fld id="{A29A107F-D971-4650-B022-4C1626F90C4A}" type="datetime1">
              <a:rPr lang="en-IN" smtClean="0"/>
              <a:t>12-04-2025</a:t>
            </a:fld>
            <a:endParaRPr lang="en-IN"/>
          </a:p>
        </p:txBody>
      </p:sp>
      <p:sp>
        <p:nvSpPr>
          <p:cNvPr id="8" name="Rectangle 4">
            <a:extLst>
              <a:ext uri="{FF2B5EF4-FFF2-40B4-BE49-F238E27FC236}">
                <a16:creationId xmlns:a16="http://schemas.microsoft.com/office/drawing/2014/main" id="{A5ACBDB8-22B8-E05F-1C3D-6FD5434144DB}"/>
              </a:ext>
            </a:extLst>
          </p:cNvPr>
          <p:cNvSpPr>
            <a:spLocks noGrp="1" noChangeArrowheads="1"/>
          </p:cNvSpPr>
          <p:nvPr>
            <p:ph idx="1"/>
          </p:nvPr>
        </p:nvSpPr>
        <p:spPr bwMode="auto">
          <a:xfrm>
            <a:off x="794658" y="667656"/>
            <a:ext cx="10744200"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lgn="just"/>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The emergence of global pandemics like COVID-19 has underscored the importance of personal protective equipment (PPE) such as face masks and face shields in minimizing the spread of infectious diseases. </a:t>
            </a:r>
          </a:p>
          <a:p>
            <a:pPr algn="just"/>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To ensure public safety, automated surveillance systems have become essential for monitoring compliance with health guidelines. This project aims to develop a real-time shield mask detection system using deep learning techniques. </a:t>
            </a:r>
          </a:p>
          <a:p>
            <a:pPr algn="just"/>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By integrating Haar Cascade classifiers for face detection and a lightweight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MobileNet</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-based CNN model for classification, the system can accurately determine whether individuals are wearing a face mask, a face shield, both, or none.</a:t>
            </a:r>
          </a:p>
          <a:p>
            <a:pPr algn="just"/>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The system is designed for deployment in public areas such as hospitals, airports, shopping malls, and schools to help authorities monitor PPE usage effectively and efficiently.</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035500094"/>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3EA194-D391-0E6C-A58C-C0C4CD8A526E}"/>
              </a:ext>
            </a:extLst>
          </p:cNvPr>
          <p:cNvSpPr>
            <a:spLocks noGrp="1"/>
          </p:cNvSpPr>
          <p:nvPr>
            <p:ph idx="1"/>
          </p:nvPr>
        </p:nvSpPr>
        <p:spPr>
          <a:xfrm>
            <a:off x="564243" y="742383"/>
            <a:ext cx="10789557" cy="5885089"/>
          </a:xfrm>
        </p:spPr>
        <p:txBody>
          <a:bodyPr>
            <a:normAutofit/>
          </a:bodyPr>
          <a:lstStyle/>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An automated, real-time PPE detection system is crucial for ensuring public compliance by accurately identifying whether individuals are wearing a face mask, face shield, both, or none—even in challenging conditions. Unlike traditional models, it must be lightweight, fast, and suitable for deployment on edge devices, enabling scalable and cost-effective implementation in public and private spaces. By leveraging deep learning and optimized architectures like </a:t>
            </a:r>
            <a:r>
              <a:rPr lang="en-US" sz="1800" dirty="0" err="1">
                <a:latin typeface="Times New Roman" panose="02020603050405020304" pitchFamily="18" charset="0"/>
                <a:cs typeface="Times New Roman" panose="02020603050405020304" pitchFamily="18" charset="0"/>
              </a:rPr>
              <a:t>MobileNet</a:t>
            </a:r>
            <a:r>
              <a:rPr lang="en-US" sz="1800" dirty="0">
                <a:latin typeface="Times New Roman" panose="02020603050405020304" pitchFamily="18" charset="0"/>
                <a:cs typeface="Times New Roman" panose="02020603050405020304" pitchFamily="18" charset="0"/>
              </a:rPr>
              <a:t>, the system ensures high accuracy with low computational demand, making it ideal for real-time monitoring in hospitals, offices, airports, and other high-traffic areas.</a:t>
            </a:r>
            <a:endParaRPr lang="en-IN" sz="1800" b="1" i="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94AD23D-3B44-EC38-704A-2B6E3C1EC9A3}"/>
              </a:ext>
            </a:extLst>
          </p:cNvPr>
          <p:cNvSpPr>
            <a:spLocks noGrp="1"/>
          </p:cNvSpPr>
          <p:nvPr>
            <p:ph type="sldNum" sz="quarter" idx="12"/>
          </p:nvPr>
        </p:nvSpPr>
        <p:spPr>
          <a:xfrm>
            <a:off x="8610600" y="6310312"/>
            <a:ext cx="2743200" cy="365125"/>
          </a:xfrm>
        </p:spPr>
        <p:txBody>
          <a:bodyPr/>
          <a:lstStyle/>
          <a:p>
            <a:r>
              <a:rPr lang="en-US" sz="1600">
                <a:solidFill>
                  <a:schemeClr val="tx1"/>
                </a:solidFill>
              </a:rPr>
              <a:t>5</a:t>
            </a:r>
            <a:endParaRPr lang="en-IN" sz="1600">
              <a:solidFill>
                <a:schemeClr val="tx1"/>
              </a:solidFill>
            </a:endParaRPr>
          </a:p>
        </p:txBody>
      </p:sp>
      <p:sp>
        <p:nvSpPr>
          <p:cNvPr id="4" name="Rectangle 3"/>
          <p:cNvSpPr/>
          <p:nvPr/>
        </p:nvSpPr>
        <p:spPr>
          <a:xfrm>
            <a:off x="4233939" y="0"/>
            <a:ext cx="3704091" cy="461665"/>
          </a:xfrm>
          <a:prstGeom prst="rect">
            <a:avLst/>
          </a:prstGeom>
        </p:spPr>
        <p:txBody>
          <a:bodyPr wrap="none">
            <a:spAutoFit/>
          </a:bodyPr>
          <a:lstStyle/>
          <a:p>
            <a:r>
              <a:rPr lang="en-US" sz="2400" b="1">
                <a:latin typeface="Times New Roman" panose="02020603050405020304" pitchFamily="18" charset="0"/>
                <a:cs typeface="Times New Roman" panose="02020603050405020304" pitchFamily="18" charset="0"/>
              </a:rPr>
              <a:t>PROBLEM STATEMENT</a:t>
            </a:r>
            <a:endParaRPr lang="en-IN" sz="240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5085" y="0"/>
            <a:ext cx="1436915" cy="1059543"/>
          </a:xfrm>
          <a:prstGeom prst="rect">
            <a:avLst/>
          </a:prstGeom>
        </p:spPr>
      </p:pic>
      <p:cxnSp>
        <p:nvCxnSpPr>
          <p:cNvPr id="9" name="Straight Connector 8"/>
          <p:cNvCxnSpPr/>
          <p:nvPr/>
        </p:nvCxnSpPr>
        <p:spPr>
          <a:xfrm flipV="1">
            <a:off x="551543" y="667657"/>
            <a:ext cx="10392228" cy="2"/>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7" name="Date Placeholder 16"/>
          <p:cNvSpPr>
            <a:spLocks noGrp="1"/>
          </p:cNvSpPr>
          <p:nvPr>
            <p:ph type="dt" sz="half" idx="10"/>
          </p:nvPr>
        </p:nvSpPr>
        <p:spPr/>
        <p:txBody>
          <a:bodyPr/>
          <a:lstStyle/>
          <a:p>
            <a:fld id="{485D0C60-F3E7-4994-A4A8-88B24D983CF7}" type="datetime1">
              <a:rPr lang="en-IN" smtClean="0"/>
              <a:t>12-04-2025</a:t>
            </a:fld>
            <a:endParaRPr lang="en-IN"/>
          </a:p>
        </p:txBody>
      </p:sp>
    </p:spTree>
    <p:extLst>
      <p:ext uri="{BB962C8B-B14F-4D97-AF65-F5344CB8AC3E}">
        <p14:creationId xmlns:p14="http://schemas.microsoft.com/office/powerpoint/2010/main" val="3432946822"/>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505509-53E0-264A-E6B8-B1E85460C6E3}"/>
              </a:ext>
            </a:extLst>
          </p:cNvPr>
          <p:cNvSpPr>
            <a:spLocks noGrp="1"/>
          </p:cNvSpPr>
          <p:nvPr>
            <p:ph type="dt" sz="half" idx="10"/>
          </p:nvPr>
        </p:nvSpPr>
        <p:spPr/>
        <p:txBody>
          <a:bodyPr/>
          <a:lstStyle/>
          <a:p>
            <a:fld id="{15943351-109D-42C9-8BD6-281C6608D771}" type="datetime1">
              <a:rPr lang="en-IN" smtClean="0"/>
              <a:t>12-04-2025</a:t>
            </a:fld>
            <a:endParaRPr lang="en-IN"/>
          </a:p>
        </p:txBody>
      </p:sp>
      <p:sp>
        <p:nvSpPr>
          <p:cNvPr id="3" name="Slide Number Placeholder 2">
            <a:extLst>
              <a:ext uri="{FF2B5EF4-FFF2-40B4-BE49-F238E27FC236}">
                <a16:creationId xmlns:a16="http://schemas.microsoft.com/office/drawing/2014/main" id="{513D4DC6-5647-E4BF-AF2F-8FDA3391F525}"/>
              </a:ext>
            </a:extLst>
          </p:cNvPr>
          <p:cNvSpPr>
            <a:spLocks noGrp="1"/>
          </p:cNvSpPr>
          <p:nvPr>
            <p:ph type="sldNum" sz="quarter" idx="12"/>
          </p:nvPr>
        </p:nvSpPr>
        <p:spPr/>
        <p:txBody>
          <a:bodyPr/>
          <a:lstStyle/>
          <a:p>
            <a:fld id="{79CD4CE9-F1A3-4728-B74D-DBF6FEAF9982}" type="slidenum">
              <a:rPr lang="en-IN" smtClean="0"/>
              <a:t>6</a:t>
            </a:fld>
            <a:endParaRPr lang="en-IN"/>
          </a:p>
        </p:txBody>
      </p:sp>
      <p:graphicFrame>
        <p:nvGraphicFramePr>
          <p:cNvPr id="6" name="Table 5">
            <a:extLst>
              <a:ext uri="{FF2B5EF4-FFF2-40B4-BE49-F238E27FC236}">
                <a16:creationId xmlns:a16="http://schemas.microsoft.com/office/drawing/2014/main" id="{0C7C67D5-FF50-C0E6-9B43-28DB178B80AC}"/>
              </a:ext>
            </a:extLst>
          </p:cNvPr>
          <p:cNvGraphicFramePr>
            <a:graphicFrameLocks noGrp="1"/>
          </p:cNvGraphicFramePr>
          <p:nvPr>
            <p:extLst>
              <p:ext uri="{D42A27DB-BD31-4B8C-83A1-F6EECF244321}">
                <p14:modId xmlns:p14="http://schemas.microsoft.com/office/powerpoint/2010/main" val="2148344357"/>
              </p:ext>
            </p:extLst>
          </p:nvPr>
        </p:nvGraphicFramePr>
        <p:xfrm>
          <a:off x="863029" y="778268"/>
          <a:ext cx="10490775" cy="4716546"/>
        </p:xfrm>
        <a:graphic>
          <a:graphicData uri="http://schemas.openxmlformats.org/drawingml/2006/table">
            <a:tbl>
              <a:tblPr firstRow="1" bandRow="1">
                <a:tableStyleId>{5940675A-B579-460E-94D1-54222C63F5DA}</a:tableStyleId>
              </a:tblPr>
              <a:tblGrid>
                <a:gridCol w="1249789">
                  <a:extLst>
                    <a:ext uri="{9D8B030D-6E8A-4147-A177-3AD203B41FA5}">
                      <a16:colId xmlns:a16="http://schemas.microsoft.com/office/drawing/2014/main" val="885310034"/>
                    </a:ext>
                  </a:extLst>
                </a:gridCol>
                <a:gridCol w="2198394">
                  <a:extLst>
                    <a:ext uri="{9D8B030D-6E8A-4147-A177-3AD203B41FA5}">
                      <a16:colId xmlns:a16="http://schemas.microsoft.com/office/drawing/2014/main" val="996389510"/>
                    </a:ext>
                  </a:extLst>
                </a:gridCol>
                <a:gridCol w="1760648">
                  <a:extLst>
                    <a:ext uri="{9D8B030D-6E8A-4147-A177-3AD203B41FA5}">
                      <a16:colId xmlns:a16="http://schemas.microsoft.com/office/drawing/2014/main" val="3617040615"/>
                    </a:ext>
                  </a:extLst>
                </a:gridCol>
                <a:gridCol w="1761500">
                  <a:extLst>
                    <a:ext uri="{9D8B030D-6E8A-4147-A177-3AD203B41FA5}">
                      <a16:colId xmlns:a16="http://schemas.microsoft.com/office/drawing/2014/main" val="1291418635"/>
                    </a:ext>
                  </a:extLst>
                </a:gridCol>
                <a:gridCol w="1759796">
                  <a:extLst>
                    <a:ext uri="{9D8B030D-6E8A-4147-A177-3AD203B41FA5}">
                      <a16:colId xmlns:a16="http://schemas.microsoft.com/office/drawing/2014/main" val="2263058486"/>
                    </a:ext>
                  </a:extLst>
                </a:gridCol>
                <a:gridCol w="1760648">
                  <a:extLst>
                    <a:ext uri="{9D8B030D-6E8A-4147-A177-3AD203B41FA5}">
                      <a16:colId xmlns:a16="http://schemas.microsoft.com/office/drawing/2014/main" val="539715047"/>
                    </a:ext>
                  </a:extLst>
                </a:gridCol>
              </a:tblGrid>
              <a:tr h="1298955">
                <a:tc>
                  <a:txBody>
                    <a:bodyPr/>
                    <a:lstStyle/>
                    <a:p>
                      <a:pPr algn="ctr">
                        <a:buNone/>
                      </a:pPr>
                      <a:r>
                        <a:rPr lang="en-US" sz="1800" b="1" dirty="0" err="1">
                          <a:effectLst/>
                          <a:latin typeface="Times New Roman" panose="02020603050405020304" pitchFamily="18" charset="0"/>
                          <a:ea typeface="SimSun" panose="02010600030101010101" pitchFamily="2" charset="-122"/>
                          <a:cs typeface="Times New Roman" panose="02020603050405020304" pitchFamily="18" charset="0"/>
                        </a:rPr>
                        <a:t>SNo</a:t>
                      </a: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lgn="ctr">
                        <a:buNone/>
                      </a:pPr>
                      <a:r>
                        <a:rPr lang="en-US" sz="1800" b="1">
                          <a:effectLst/>
                          <a:latin typeface="Times New Roman" panose="02020603050405020304" pitchFamily="18" charset="0"/>
                          <a:ea typeface="SimSun" panose="02010600030101010101" pitchFamily="2" charset="-122"/>
                          <a:cs typeface="Times New Roman" panose="02020603050405020304" pitchFamily="18" charset="0"/>
                        </a:rPr>
                        <a:t>Title/Focus</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lgn="ctr">
                        <a:buNone/>
                      </a:pP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Methodology</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lgn="ctr">
                        <a:buNone/>
                      </a:pPr>
                      <a:r>
                        <a:rPr lang="en-US" sz="1800" b="1">
                          <a:effectLst/>
                          <a:latin typeface="Times New Roman" panose="02020603050405020304" pitchFamily="18" charset="0"/>
                          <a:ea typeface="SimSun" panose="02010600030101010101" pitchFamily="2" charset="-122"/>
                          <a:cs typeface="Times New Roman" panose="02020603050405020304" pitchFamily="18" charset="0"/>
                        </a:rPr>
                        <a:t>Findings</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lgn="ctr">
                        <a:buNone/>
                      </a:pPr>
                      <a:r>
                        <a:rPr lang="en-US" sz="1800" b="1">
                          <a:effectLst/>
                          <a:latin typeface="Times New Roman" panose="02020603050405020304" pitchFamily="18" charset="0"/>
                          <a:ea typeface="SimSun" panose="02010600030101010101" pitchFamily="2" charset="-122"/>
                          <a:cs typeface="Times New Roman" panose="02020603050405020304" pitchFamily="18" charset="0"/>
                        </a:rPr>
                        <a:t>Limitations</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lgn="ctr">
                        <a:buNone/>
                      </a:pPr>
                      <a:r>
                        <a:rPr lang="en-US" sz="1800" b="1">
                          <a:effectLst/>
                          <a:latin typeface="Times New Roman" panose="02020603050405020304" pitchFamily="18" charset="0"/>
                          <a:ea typeface="SimSun" panose="02010600030101010101" pitchFamily="2" charset="-122"/>
                          <a:cs typeface="Times New Roman" panose="02020603050405020304" pitchFamily="18" charset="0"/>
                        </a:rPr>
                        <a:t>Future Work</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799661078"/>
                  </a:ext>
                </a:extLst>
              </a:tr>
              <a:tr h="1368516">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1</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"Face Mask Detection using Deep Learning and MobileNetV2"</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Used MobileNetV2 with transfer learning on face mask dataset</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Achieved high accuracy for mask detection with low computational cost</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Limited dataset diversity affecting real-time performance</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Expand dataset with more variations (shield, angles, lighting)</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459915463"/>
                  </a:ext>
                </a:extLst>
              </a:tr>
              <a:tr h="2026941">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2</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"Real-Time Face Mask and Face Shield Detection Using CNN"</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Trained CNN from scratch with multi-class classification (mask, shield, none)</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Capable of distinguishing between multiple protective gears</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Model complexity leads to slower inference on low-end devices</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Use lightweight models (like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MobileNet</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for real-time performance</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92361934"/>
                  </a:ext>
                </a:extLst>
              </a:tr>
            </a:tbl>
          </a:graphicData>
        </a:graphic>
      </p:graphicFrame>
      <p:sp>
        <p:nvSpPr>
          <p:cNvPr id="8" name="TextBox 7">
            <a:extLst>
              <a:ext uri="{FF2B5EF4-FFF2-40B4-BE49-F238E27FC236}">
                <a16:creationId xmlns:a16="http://schemas.microsoft.com/office/drawing/2014/main" id="{8C218D46-FEBD-5230-4175-4A1EF6AF9D15}"/>
              </a:ext>
            </a:extLst>
          </p:cNvPr>
          <p:cNvSpPr txBox="1"/>
          <p:nvPr/>
        </p:nvSpPr>
        <p:spPr>
          <a:xfrm>
            <a:off x="3059560" y="180066"/>
            <a:ext cx="6097712" cy="461665"/>
          </a:xfrm>
          <a:prstGeom prst="rect">
            <a:avLst/>
          </a:prstGeom>
          <a:noFill/>
        </p:spPr>
        <p:txBody>
          <a:bodyPr wrap="square">
            <a:spAutoFit/>
          </a:bodyPr>
          <a:lstStyle/>
          <a:p>
            <a:pPr algn="ctr"/>
            <a:r>
              <a:rPr lang="en-IN" sz="2400" b="1">
                <a:latin typeface="Times New Roman" panose="02020603050405020304" pitchFamily="18" charset="0"/>
                <a:cs typeface="Times New Roman" panose="02020603050405020304" pitchFamily="18" charset="0"/>
              </a:rPr>
              <a:t>LITERATURE</a:t>
            </a:r>
            <a:r>
              <a:rPr lang="en-IN" sz="2400">
                <a:latin typeface="Times New Roman" panose="02020603050405020304" pitchFamily="18" charset="0"/>
                <a:cs typeface="Times New Roman" panose="02020603050405020304" pitchFamily="18" charset="0"/>
              </a:rPr>
              <a:t> </a:t>
            </a:r>
            <a:r>
              <a:rPr lang="en-IN" sz="2400" b="1">
                <a:latin typeface="Times New Roman" panose="02020603050405020304" pitchFamily="18" charset="0"/>
                <a:cs typeface="Times New Roman" panose="02020603050405020304" pitchFamily="18" charset="0"/>
              </a:rPr>
              <a:t>SURVEY</a:t>
            </a:r>
          </a:p>
        </p:txBody>
      </p:sp>
      <p:pic>
        <p:nvPicPr>
          <p:cNvPr id="9" name="Picture 8">
            <a:extLst>
              <a:ext uri="{FF2B5EF4-FFF2-40B4-BE49-F238E27FC236}">
                <a16:creationId xmlns:a16="http://schemas.microsoft.com/office/drawing/2014/main" id="{18B88A8A-46ED-D263-2BC5-53185B8AB6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87463" y="0"/>
            <a:ext cx="1104537" cy="703863"/>
          </a:xfrm>
          <a:prstGeom prst="rect">
            <a:avLst/>
          </a:prstGeom>
        </p:spPr>
      </p:pic>
    </p:spTree>
    <p:extLst>
      <p:ext uri="{BB962C8B-B14F-4D97-AF65-F5344CB8AC3E}">
        <p14:creationId xmlns:p14="http://schemas.microsoft.com/office/powerpoint/2010/main" val="1361541526"/>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D5C43F-F8D6-859C-1DF6-497AFC30ADDC}"/>
              </a:ext>
            </a:extLst>
          </p:cNvPr>
          <p:cNvSpPr>
            <a:spLocks noGrp="1"/>
          </p:cNvSpPr>
          <p:nvPr>
            <p:ph type="dt" sz="half" idx="10"/>
          </p:nvPr>
        </p:nvSpPr>
        <p:spPr/>
        <p:txBody>
          <a:bodyPr/>
          <a:lstStyle/>
          <a:p>
            <a:fld id="{15943351-109D-42C9-8BD6-281C6608D771}" type="datetime1">
              <a:rPr lang="en-IN" smtClean="0"/>
              <a:t>12-04-2025</a:t>
            </a:fld>
            <a:endParaRPr lang="en-IN"/>
          </a:p>
        </p:txBody>
      </p:sp>
      <p:sp>
        <p:nvSpPr>
          <p:cNvPr id="3" name="Slide Number Placeholder 2">
            <a:extLst>
              <a:ext uri="{FF2B5EF4-FFF2-40B4-BE49-F238E27FC236}">
                <a16:creationId xmlns:a16="http://schemas.microsoft.com/office/drawing/2014/main" id="{7F1EB2CC-933F-F38F-6B0D-62444E019F0F}"/>
              </a:ext>
            </a:extLst>
          </p:cNvPr>
          <p:cNvSpPr>
            <a:spLocks noGrp="1"/>
          </p:cNvSpPr>
          <p:nvPr>
            <p:ph type="sldNum" sz="quarter" idx="12"/>
          </p:nvPr>
        </p:nvSpPr>
        <p:spPr/>
        <p:txBody>
          <a:bodyPr/>
          <a:lstStyle/>
          <a:p>
            <a:fld id="{79CD4CE9-F1A3-4728-B74D-DBF6FEAF9982}" type="slidenum">
              <a:rPr lang="en-IN" smtClean="0"/>
              <a:t>7</a:t>
            </a:fld>
            <a:endParaRPr lang="en-IN"/>
          </a:p>
        </p:txBody>
      </p:sp>
      <p:sp>
        <p:nvSpPr>
          <p:cNvPr id="4" name="TextBox 2">
            <a:extLst>
              <a:ext uri="{FF2B5EF4-FFF2-40B4-BE49-F238E27FC236}">
                <a16:creationId xmlns:a16="http://schemas.microsoft.com/office/drawing/2014/main" id="{8C9C5AB0-D5D8-98F7-AB26-E9999D0F4568}"/>
              </a:ext>
            </a:extLst>
          </p:cNvPr>
          <p:cNvSpPr txBox="1"/>
          <p:nvPr/>
        </p:nvSpPr>
        <p:spPr>
          <a:xfrm>
            <a:off x="3471021" y="300262"/>
            <a:ext cx="5029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b="1">
                <a:latin typeface="Times New Roman" panose="02020603050405020304" pitchFamily="18" charset="0"/>
                <a:cs typeface="Times New Roman" panose="02020603050405020304" pitchFamily="18" charset="0"/>
              </a:rPr>
              <a:t>LITERATURE</a:t>
            </a:r>
            <a:r>
              <a:rPr lang="en-IN" sz="2400">
                <a:latin typeface="Times New Roman" panose="02020603050405020304" pitchFamily="18" charset="0"/>
                <a:cs typeface="Times New Roman" panose="02020603050405020304" pitchFamily="18" charset="0"/>
              </a:rPr>
              <a:t> </a:t>
            </a:r>
            <a:r>
              <a:rPr lang="en-IN" sz="2400" b="1">
                <a:latin typeface="Times New Roman" panose="02020603050405020304" pitchFamily="18" charset="0"/>
                <a:cs typeface="Times New Roman" panose="02020603050405020304" pitchFamily="18" charset="0"/>
              </a:rPr>
              <a:t>SURVEY</a:t>
            </a:r>
          </a:p>
        </p:txBody>
      </p:sp>
      <p:graphicFrame>
        <p:nvGraphicFramePr>
          <p:cNvPr id="7" name="Table 6">
            <a:extLst>
              <a:ext uri="{FF2B5EF4-FFF2-40B4-BE49-F238E27FC236}">
                <a16:creationId xmlns:a16="http://schemas.microsoft.com/office/drawing/2014/main" id="{A7958132-3AC2-325E-AA81-024ED635EA74}"/>
              </a:ext>
            </a:extLst>
          </p:cNvPr>
          <p:cNvGraphicFramePr>
            <a:graphicFrameLocks noGrp="1"/>
          </p:cNvGraphicFramePr>
          <p:nvPr>
            <p:extLst>
              <p:ext uri="{D42A27DB-BD31-4B8C-83A1-F6EECF244321}">
                <p14:modId xmlns:p14="http://schemas.microsoft.com/office/powerpoint/2010/main" val="2789405845"/>
              </p:ext>
            </p:extLst>
          </p:nvPr>
        </p:nvGraphicFramePr>
        <p:xfrm>
          <a:off x="494084" y="904126"/>
          <a:ext cx="10983073" cy="5287416"/>
        </p:xfrm>
        <a:graphic>
          <a:graphicData uri="http://schemas.openxmlformats.org/drawingml/2006/table">
            <a:tbl>
              <a:tblPr firstRow="1" bandRow="1">
                <a:tableStyleId>{5940675A-B579-460E-94D1-54222C63F5DA}</a:tableStyleId>
              </a:tblPr>
              <a:tblGrid>
                <a:gridCol w="1838150">
                  <a:extLst>
                    <a:ext uri="{9D8B030D-6E8A-4147-A177-3AD203B41FA5}">
                      <a16:colId xmlns:a16="http://schemas.microsoft.com/office/drawing/2014/main" val="3898613202"/>
                    </a:ext>
                  </a:extLst>
                </a:gridCol>
                <a:gridCol w="1822874">
                  <a:extLst>
                    <a:ext uri="{9D8B030D-6E8A-4147-A177-3AD203B41FA5}">
                      <a16:colId xmlns:a16="http://schemas.microsoft.com/office/drawing/2014/main" val="1621269115"/>
                    </a:ext>
                  </a:extLst>
                </a:gridCol>
                <a:gridCol w="1820211">
                  <a:extLst>
                    <a:ext uri="{9D8B030D-6E8A-4147-A177-3AD203B41FA5}">
                      <a16:colId xmlns:a16="http://schemas.microsoft.com/office/drawing/2014/main" val="4088112105"/>
                    </a:ext>
                  </a:extLst>
                </a:gridCol>
                <a:gridCol w="1840814">
                  <a:extLst>
                    <a:ext uri="{9D8B030D-6E8A-4147-A177-3AD203B41FA5}">
                      <a16:colId xmlns:a16="http://schemas.microsoft.com/office/drawing/2014/main" val="624410068"/>
                    </a:ext>
                  </a:extLst>
                </a:gridCol>
                <a:gridCol w="1830512">
                  <a:extLst>
                    <a:ext uri="{9D8B030D-6E8A-4147-A177-3AD203B41FA5}">
                      <a16:colId xmlns:a16="http://schemas.microsoft.com/office/drawing/2014/main" val="422546542"/>
                    </a:ext>
                  </a:extLst>
                </a:gridCol>
                <a:gridCol w="1830512">
                  <a:extLst>
                    <a:ext uri="{9D8B030D-6E8A-4147-A177-3AD203B41FA5}">
                      <a16:colId xmlns:a16="http://schemas.microsoft.com/office/drawing/2014/main" val="212308914"/>
                    </a:ext>
                  </a:extLst>
                </a:gridCol>
              </a:tblGrid>
              <a:tr h="2296274">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3</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"Face Detection using Haar Cascade Classifier"</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Used OpenCV Haar cascades for frontal face detection</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Simple and fast method for face localization</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Less accurate under occlusions and different lighting conditions</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Combine with deep learning for better accuracy</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283845632"/>
                  </a:ext>
                </a:extLst>
              </a:tr>
              <a:tr h="2991142">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4</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"COVID-19 Face Mask Detector with OpenCV, Keras/TensorFlow"</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Fine-tuned CNN model with OpenCV face detection</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Achieved real-time detection with decent accuracy</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a:effectLst/>
                          <a:latin typeface="Times New Roman" panose="02020603050405020304" pitchFamily="18" charset="0"/>
                          <a:ea typeface="SimSun" panose="02010600030101010101" pitchFamily="2" charset="-122"/>
                          <a:cs typeface="Times New Roman" panose="02020603050405020304" pitchFamily="18" charset="0"/>
                        </a:rPr>
                        <a:t>Only binary classification (mask vs. no mask)</a:t>
                      </a:r>
                      <a:endParaRPr lang="en-IN" sz="180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Add more classes like face shield or incorrect mask usage</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958134706"/>
                  </a:ext>
                </a:extLst>
              </a:tr>
            </a:tbl>
          </a:graphicData>
        </a:graphic>
      </p:graphicFrame>
      <p:pic>
        <p:nvPicPr>
          <p:cNvPr id="8" name="Picture 7">
            <a:extLst>
              <a:ext uri="{FF2B5EF4-FFF2-40B4-BE49-F238E27FC236}">
                <a16:creationId xmlns:a16="http://schemas.microsoft.com/office/drawing/2014/main" id="{052135B9-CEF2-4A06-A713-8297C69AC1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7298" y="0"/>
            <a:ext cx="1044701" cy="663877"/>
          </a:xfrm>
          <a:prstGeom prst="rect">
            <a:avLst/>
          </a:prstGeom>
        </p:spPr>
      </p:pic>
    </p:spTree>
    <p:extLst>
      <p:ext uri="{BB962C8B-B14F-4D97-AF65-F5344CB8AC3E}">
        <p14:creationId xmlns:p14="http://schemas.microsoft.com/office/powerpoint/2010/main" val="3765527300"/>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7532EA-5CE0-F065-F6B7-4EBC2EBF61A4}"/>
              </a:ext>
            </a:extLst>
          </p:cNvPr>
          <p:cNvSpPr>
            <a:spLocks noGrp="1"/>
          </p:cNvSpPr>
          <p:nvPr>
            <p:ph type="sldNum" sz="quarter" idx="12"/>
          </p:nvPr>
        </p:nvSpPr>
        <p:spPr/>
        <p:txBody>
          <a:bodyPr/>
          <a:lstStyle/>
          <a:p>
            <a:fld id="{79CD4CE9-F1A3-4728-B74D-DBF6FEAF9982}" type="slidenum">
              <a:rPr lang="en-IN" smtClean="0"/>
              <a:t>8</a:t>
            </a:fld>
            <a:endParaRPr lang="en-IN"/>
          </a:p>
        </p:txBody>
      </p:sp>
      <p:sp>
        <p:nvSpPr>
          <p:cNvPr id="4" name="TextBox 2">
            <a:extLst>
              <a:ext uri="{FF2B5EF4-FFF2-40B4-BE49-F238E27FC236}">
                <a16:creationId xmlns:a16="http://schemas.microsoft.com/office/drawing/2014/main" id="{66371A43-F537-24FD-9FF3-3DDDB6C5F05E}"/>
              </a:ext>
            </a:extLst>
          </p:cNvPr>
          <p:cNvSpPr txBox="1"/>
          <p:nvPr/>
        </p:nvSpPr>
        <p:spPr>
          <a:xfrm>
            <a:off x="3506055" y="133245"/>
            <a:ext cx="5029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b="1">
                <a:latin typeface="Times New Roman" panose="02020603050405020304" pitchFamily="18" charset="0"/>
                <a:cs typeface="Times New Roman" panose="02020603050405020304" pitchFamily="18" charset="0"/>
              </a:rPr>
              <a:t>LITERATURE SURVEY</a:t>
            </a:r>
          </a:p>
        </p:txBody>
      </p:sp>
      <p:graphicFrame>
        <p:nvGraphicFramePr>
          <p:cNvPr id="6" name="Table 5">
            <a:extLst>
              <a:ext uri="{FF2B5EF4-FFF2-40B4-BE49-F238E27FC236}">
                <a16:creationId xmlns:a16="http://schemas.microsoft.com/office/drawing/2014/main" id="{3C8A7EE9-A189-D82E-9FE4-F121274FA34C}"/>
              </a:ext>
            </a:extLst>
          </p:cNvPr>
          <p:cNvGraphicFramePr>
            <a:graphicFrameLocks noGrp="1"/>
          </p:cNvGraphicFramePr>
          <p:nvPr>
            <p:extLst>
              <p:ext uri="{D42A27DB-BD31-4B8C-83A1-F6EECF244321}">
                <p14:modId xmlns:p14="http://schemas.microsoft.com/office/powerpoint/2010/main" val="3996584425"/>
              </p:ext>
            </p:extLst>
          </p:nvPr>
        </p:nvGraphicFramePr>
        <p:xfrm>
          <a:off x="314960" y="761927"/>
          <a:ext cx="11418126" cy="2347033"/>
        </p:xfrm>
        <a:graphic>
          <a:graphicData uri="http://schemas.openxmlformats.org/drawingml/2006/table">
            <a:tbl>
              <a:tblPr firstRow="1" bandRow="1">
                <a:tableStyleId>{5940675A-B579-460E-94D1-54222C63F5DA}</a:tableStyleId>
              </a:tblPr>
              <a:tblGrid>
                <a:gridCol w="1903021">
                  <a:extLst>
                    <a:ext uri="{9D8B030D-6E8A-4147-A177-3AD203B41FA5}">
                      <a16:colId xmlns:a16="http://schemas.microsoft.com/office/drawing/2014/main" val="2834402866"/>
                    </a:ext>
                  </a:extLst>
                </a:gridCol>
                <a:gridCol w="1903021">
                  <a:extLst>
                    <a:ext uri="{9D8B030D-6E8A-4147-A177-3AD203B41FA5}">
                      <a16:colId xmlns:a16="http://schemas.microsoft.com/office/drawing/2014/main" val="3388356813"/>
                    </a:ext>
                  </a:extLst>
                </a:gridCol>
                <a:gridCol w="1856056">
                  <a:extLst>
                    <a:ext uri="{9D8B030D-6E8A-4147-A177-3AD203B41FA5}">
                      <a16:colId xmlns:a16="http://schemas.microsoft.com/office/drawing/2014/main" val="1752431925"/>
                    </a:ext>
                  </a:extLst>
                </a:gridCol>
                <a:gridCol w="1949986">
                  <a:extLst>
                    <a:ext uri="{9D8B030D-6E8A-4147-A177-3AD203B41FA5}">
                      <a16:colId xmlns:a16="http://schemas.microsoft.com/office/drawing/2014/main" val="4148163215"/>
                    </a:ext>
                  </a:extLst>
                </a:gridCol>
                <a:gridCol w="1903021">
                  <a:extLst>
                    <a:ext uri="{9D8B030D-6E8A-4147-A177-3AD203B41FA5}">
                      <a16:colId xmlns:a16="http://schemas.microsoft.com/office/drawing/2014/main" val="3080066029"/>
                    </a:ext>
                  </a:extLst>
                </a:gridCol>
                <a:gridCol w="1903021">
                  <a:extLst>
                    <a:ext uri="{9D8B030D-6E8A-4147-A177-3AD203B41FA5}">
                      <a16:colId xmlns:a16="http://schemas.microsoft.com/office/drawing/2014/main" val="2704889645"/>
                    </a:ext>
                  </a:extLst>
                </a:gridCol>
              </a:tblGrid>
              <a:tr h="2347033">
                <a:tc>
                  <a:txBody>
                    <a:bodyPr/>
                    <a:lstStyle/>
                    <a:p>
                      <a:endParaRPr lang="en-US" dirty="0"/>
                    </a:p>
                    <a:p>
                      <a:endParaRPr lang="en-US" dirty="0"/>
                    </a:p>
                    <a:p>
                      <a:endParaRPr lang="en-US" dirty="0"/>
                    </a:p>
                    <a:p>
                      <a:endParaRPr lang="en-US" dirty="0"/>
                    </a:p>
                    <a:p>
                      <a:r>
                        <a:rPr lang="en-US" dirty="0"/>
                        <a:t>            </a:t>
                      </a:r>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"Lightweight CNN for Face Mask Detection"</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Developed a custom lightweight CNN for fast inference</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Fast and power-efficient model with reasonable accuracy</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Accuracy drops in crowded or low-light scenes</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tc>
                  <a:txBody>
                    <a:bodyPr/>
                    <a:lstStyle/>
                    <a:p>
                      <a:pPr>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Add preprocessing techniques like histogram equalization</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619146074"/>
                  </a:ext>
                </a:extLst>
              </a:tr>
            </a:tbl>
          </a:graphicData>
        </a:graphic>
      </p:graphicFrame>
      <p:pic>
        <p:nvPicPr>
          <p:cNvPr id="7" name="Picture 6">
            <a:extLst>
              <a:ext uri="{FF2B5EF4-FFF2-40B4-BE49-F238E27FC236}">
                <a16:creationId xmlns:a16="http://schemas.microsoft.com/office/drawing/2014/main" id="{3F09CF48-FAC9-B8BA-F013-7E6C360CE6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84970" y="1"/>
            <a:ext cx="1007030" cy="731480"/>
          </a:xfrm>
          <a:prstGeom prst="rect">
            <a:avLst/>
          </a:prstGeom>
        </p:spPr>
      </p:pic>
      <p:graphicFrame>
        <p:nvGraphicFramePr>
          <p:cNvPr id="8" name="Table 7">
            <a:extLst>
              <a:ext uri="{FF2B5EF4-FFF2-40B4-BE49-F238E27FC236}">
                <a16:creationId xmlns:a16="http://schemas.microsoft.com/office/drawing/2014/main" id="{DD050ACC-A721-8B3E-2485-CD99502E6F88}"/>
              </a:ext>
            </a:extLst>
          </p:cNvPr>
          <p:cNvGraphicFramePr>
            <a:graphicFrameLocks noGrp="1"/>
          </p:cNvGraphicFramePr>
          <p:nvPr>
            <p:extLst>
              <p:ext uri="{D42A27DB-BD31-4B8C-83A1-F6EECF244321}">
                <p14:modId xmlns:p14="http://schemas.microsoft.com/office/powerpoint/2010/main" val="1522021220"/>
              </p:ext>
            </p:extLst>
          </p:nvPr>
        </p:nvGraphicFramePr>
        <p:xfrm>
          <a:off x="314960" y="3108961"/>
          <a:ext cx="11480797" cy="2184399"/>
        </p:xfrm>
        <a:graphic>
          <a:graphicData uri="http://schemas.openxmlformats.org/drawingml/2006/table">
            <a:tbl>
              <a:tblPr firstRow="1" bandRow="1">
                <a:tableStyleId>{5940675A-B579-460E-94D1-54222C63F5DA}</a:tableStyleId>
              </a:tblPr>
              <a:tblGrid>
                <a:gridCol w="1913466">
                  <a:extLst>
                    <a:ext uri="{9D8B030D-6E8A-4147-A177-3AD203B41FA5}">
                      <a16:colId xmlns:a16="http://schemas.microsoft.com/office/drawing/2014/main" val="540334780"/>
                    </a:ext>
                  </a:extLst>
                </a:gridCol>
                <a:gridCol w="1913466">
                  <a:extLst>
                    <a:ext uri="{9D8B030D-6E8A-4147-A177-3AD203B41FA5}">
                      <a16:colId xmlns:a16="http://schemas.microsoft.com/office/drawing/2014/main" val="2381874172"/>
                    </a:ext>
                  </a:extLst>
                </a:gridCol>
                <a:gridCol w="1866243">
                  <a:extLst>
                    <a:ext uri="{9D8B030D-6E8A-4147-A177-3AD203B41FA5}">
                      <a16:colId xmlns:a16="http://schemas.microsoft.com/office/drawing/2014/main" val="2851624018"/>
                    </a:ext>
                  </a:extLst>
                </a:gridCol>
                <a:gridCol w="1960690">
                  <a:extLst>
                    <a:ext uri="{9D8B030D-6E8A-4147-A177-3AD203B41FA5}">
                      <a16:colId xmlns:a16="http://schemas.microsoft.com/office/drawing/2014/main" val="3782408012"/>
                    </a:ext>
                  </a:extLst>
                </a:gridCol>
                <a:gridCol w="1913466">
                  <a:extLst>
                    <a:ext uri="{9D8B030D-6E8A-4147-A177-3AD203B41FA5}">
                      <a16:colId xmlns:a16="http://schemas.microsoft.com/office/drawing/2014/main" val="259497781"/>
                    </a:ext>
                  </a:extLst>
                </a:gridCol>
                <a:gridCol w="1913466">
                  <a:extLst>
                    <a:ext uri="{9D8B030D-6E8A-4147-A177-3AD203B41FA5}">
                      <a16:colId xmlns:a16="http://schemas.microsoft.com/office/drawing/2014/main" val="2650302475"/>
                    </a:ext>
                  </a:extLst>
                </a:gridCol>
              </a:tblGrid>
              <a:tr h="2184399">
                <a:tc>
                  <a:txBody>
                    <a:bodyPr/>
                    <a:lstStyle/>
                    <a:p>
                      <a:endParaRPr lang="en-US" dirty="0"/>
                    </a:p>
                    <a:p>
                      <a:endParaRPr lang="en-US" dirty="0"/>
                    </a:p>
                    <a:p>
                      <a:endParaRPr lang="en-US" dirty="0"/>
                    </a:p>
                    <a:p>
                      <a:endParaRPr lang="en-US" dirty="0"/>
                    </a:p>
                    <a:p>
                      <a:r>
                        <a:rPr lang="en-US" dirty="0"/>
                        <a:t>            </a:t>
                      </a:r>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Times New Roman" panose="02020603050405020304" pitchFamily="18" charset="0"/>
                          <a:ea typeface="+mn-ea"/>
                          <a:cs typeface="Times New Roman" panose="02020603050405020304" pitchFamily="18" charset="0"/>
                        </a:rPr>
                        <a:t>Social Distancing, Surveillance, and Stronger Health Systems as Keys to Controlling COVID-19 Pandemic (2020)</a:t>
                      </a:r>
                    </a:p>
                  </a:txBody>
                  <a:tcPr marL="9525" marR="9525" marT="9525" marB="952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kern="1200" dirty="0">
                          <a:solidFill>
                            <a:schemeClr val="tx1"/>
                          </a:solidFill>
                          <a:effectLst/>
                          <a:latin typeface="Times New Roman" panose="02020603050405020304" pitchFamily="18" charset="0"/>
                          <a:ea typeface="+mn-ea"/>
                          <a:cs typeface="Times New Roman" panose="02020603050405020304" pitchFamily="18" charset="0"/>
                        </a:rPr>
                        <a:t>Pan American Health Organization (PAHO)</a:t>
                      </a:r>
                    </a:p>
                  </a:txBody>
                  <a:tcPr/>
                </a:tc>
                <a:tc>
                  <a:txBody>
                    <a:bodyPr/>
                    <a:lstStyle/>
                    <a:p>
                      <a:pPr marL="285750" indent="-285750">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Surveillance systems</a:t>
                      </a:r>
                    </a:p>
                    <a:p>
                      <a:pPr marL="285750" indent="-285750">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Data analytics</a:t>
                      </a:r>
                    </a:p>
                    <a:p>
                      <a:pPr marL="285750" indent="-285750">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Mathematical modeling</a:t>
                      </a:r>
                      <a:endParaRPr lang="en-IN" sz="17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distancing, stronger health systems in controlling COVID-19 pandemic</a:t>
                      </a:r>
                      <a:endParaRPr lang="en-IN" sz="17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Does not provide detailed implementation plans or feasibility analysis</a:t>
                      </a:r>
                      <a:endParaRPr lang="en-IN" sz="17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8717538"/>
                  </a:ext>
                </a:extLst>
              </a:tr>
            </a:tbl>
          </a:graphicData>
        </a:graphic>
      </p:graphicFrame>
    </p:spTree>
    <p:extLst>
      <p:ext uri="{BB962C8B-B14F-4D97-AF65-F5344CB8AC3E}">
        <p14:creationId xmlns:p14="http://schemas.microsoft.com/office/powerpoint/2010/main" val="657546616"/>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82A0-63B9-4DA1-27C2-B4105835B077}"/>
              </a:ext>
            </a:extLst>
          </p:cNvPr>
          <p:cNvSpPr>
            <a:spLocks noGrp="1"/>
          </p:cNvSpPr>
          <p:nvPr>
            <p:ph type="title"/>
          </p:nvPr>
        </p:nvSpPr>
        <p:spPr>
          <a:xfrm>
            <a:off x="4629775" y="43543"/>
            <a:ext cx="3614340" cy="360167"/>
          </a:xfrm>
        </p:spPr>
        <p:txBody>
          <a:bodyPr>
            <a:noAutofit/>
          </a:bodyPr>
          <a:lstStyle/>
          <a:p>
            <a:r>
              <a:rPr lang="en-US" sz="2400" b="1">
                <a:latin typeface="Times New Roman" panose="02020603050405020304" pitchFamily="18" charset="0"/>
                <a:cs typeface="Times New Roman" panose="02020603050405020304" pitchFamily="18" charset="0"/>
              </a:rPr>
              <a:t>EXISTING SYSTEM</a:t>
            </a:r>
            <a:endParaRPr lang="en-IN" sz="2400" b="1">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71201F9C-7289-C848-3292-6D2F03F89C88}"/>
              </a:ext>
            </a:extLst>
          </p:cNvPr>
          <p:cNvSpPr>
            <a:spLocks noGrp="1"/>
          </p:cNvSpPr>
          <p:nvPr>
            <p:ph idx="1"/>
          </p:nvPr>
        </p:nvSpPr>
        <p:spPr>
          <a:xfrm>
            <a:off x="467361" y="1176429"/>
            <a:ext cx="11348720" cy="5179919"/>
          </a:xfrm>
        </p:spPr>
        <p:txBody>
          <a:bodyPr>
            <a:noAutofit/>
          </a:bodyPr>
          <a:lstStyle/>
          <a:p>
            <a:pPr marL="0" indent="0" algn="just">
              <a:buNone/>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In existing shield or face mask detection systems, Support Vector Machine (SVM) is a commonly used machine learning algorithm for binary classification tasks such as detecting whether a person is wearing a mask or not. These systems typically involve the following steps</a:t>
            </a:r>
          </a:p>
          <a:p>
            <a:pPr algn="just">
              <a:buNone/>
            </a:pPr>
            <a:r>
              <a:rPr lang="en-IN" sz="1800" b="1"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1800" dirty="0">
              <a:effectLst/>
              <a:latin typeface="Times New Roman" panose="02020603050405020304" pitchFamily="18" charset="0"/>
              <a:ea typeface="DengXian" panose="020B0503020204020204" pitchFamily="2" charset="-122"/>
              <a:cs typeface="Times New Roman" panose="02020603050405020304" pitchFamily="18" charset="0"/>
            </a:endParaRPr>
          </a:p>
          <a:p>
            <a:pPr algn="just">
              <a:buNone/>
            </a:pPr>
            <a:r>
              <a:rPr lang="en-IN" sz="1800" b="1"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1800" dirty="0">
              <a:effectLst/>
              <a:latin typeface="Times New Roman" panose="02020603050405020304" pitchFamily="18" charset="0"/>
              <a:ea typeface="DengXian" panose="020B0503020204020204" pitchFamily="2" charset="-122"/>
              <a:cs typeface="Times New Roman" panose="02020603050405020304" pitchFamily="18" charset="0"/>
            </a:endParaRPr>
          </a:p>
          <a:p>
            <a:pPr algn="just">
              <a:buNone/>
            </a:pPr>
            <a:r>
              <a:rPr lang="en-IN" sz="1800" b="1" dirty="0">
                <a:effectLst/>
                <a:latin typeface="Times New Roman" panose="02020603050405020304" pitchFamily="18" charset="0"/>
                <a:ea typeface="DengXian" panose="020B0503020204020204" pitchFamily="2" charset="-122"/>
                <a:cs typeface="Times New Roman" panose="02020603050405020304" pitchFamily="18" charset="0"/>
              </a:rPr>
              <a:t>DISADVANTAGES:</a:t>
            </a:r>
            <a:endParaRPr lang="en-IN" sz="1800" dirty="0">
              <a:effectLst/>
              <a:latin typeface="Times New Roman" panose="02020603050405020304" pitchFamily="18" charset="0"/>
              <a:ea typeface="DengXian" panose="020B0503020204020204" pitchFamily="2" charset="-122"/>
              <a:cs typeface="Times New Roman" panose="02020603050405020304" pitchFamily="18" charset="0"/>
            </a:endParaRPr>
          </a:p>
          <a:p>
            <a:pPr algn="just">
              <a:buNone/>
            </a:pPr>
            <a:r>
              <a:rPr lang="en-IN" sz="1800" b="1"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1800" dirty="0">
              <a:effectLst/>
              <a:latin typeface="Times New Roman" panose="02020603050405020304" pitchFamily="18" charset="0"/>
              <a:ea typeface="DengXian" panose="020B0503020204020204" pitchFamily="2" charset="-122"/>
              <a:cs typeface="Times New Roman" panose="02020603050405020304" pitchFamily="18" charset="0"/>
            </a:endParaRPr>
          </a:p>
          <a:p>
            <a:pPr marL="342900" lvl="0" indent="-342900" algn="just">
              <a:buFont typeface="Wingdings" panose="05000000000000000000" pitchFamily="2" charset="2"/>
              <a:buChar char=""/>
              <a:tabLst>
                <a:tab pos="266700" algn="l"/>
              </a:tabLs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Binary Limitation</a:t>
            </a:r>
          </a:p>
          <a:p>
            <a:pPr algn="just">
              <a:buNone/>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t>
            </a:r>
          </a:p>
          <a:p>
            <a:pPr marL="342900" lvl="0" indent="-342900" algn="just">
              <a:buFont typeface="Wingdings" panose="05000000000000000000" pitchFamily="2" charset="2"/>
              <a:buChar char=""/>
              <a:tabLst>
                <a:tab pos="266700" algn="l"/>
              </a:tabLs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Manual Feature Engineering</a:t>
            </a:r>
          </a:p>
          <a:p>
            <a:pPr algn="just">
              <a:buNone/>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t>
            </a:r>
          </a:p>
          <a:p>
            <a:pPr marL="342900" lvl="0" indent="-342900" algn="just">
              <a:buFont typeface="Wingdings" panose="05000000000000000000" pitchFamily="2" charset="2"/>
              <a:buChar char=""/>
              <a:tabLst>
                <a:tab pos="266700" algn="l"/>
              </a:tabLs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Scalability Issues</a:t>
            </a:r>
          </a:p>
        </p:txBody>
      </p:sp>
      <p:sp>
        <p:nvSpPr>
          <p:cNvPr id="4" name="Slide Number Placeholder 3">
            <a:extLst>
              <a:ext uri="{FF2B5EF4-FFF2-40B4-BE49-F238E27FC236}">
                <a16:creationId xmlns:a16="http://schemas.microsoft.com/office/drawing/2014/main" id="{4780639D-9FBD-4830-324C-E1ADA38CC762}"/>
              </a:ext>
            </a:extLst>
          </p:cNvPr>
          <p:cNvSpPr>
            <a:spLocks noGrp="1"/>
          </p:cNvSpPr>
          <p:nvPr>
            <p:ph type="sldNum" sz="quarter" idx="12"/>
          </p:nvPr>
        </p:nvSpPr>
        <p:spPr/>
        <p:txBody>
          <a:bodyPr/>
          <a:lstStyle/>
          <a:p>
            <a:r>
              <a:rPr lang="en-US" sz="1600" dirty="0">
                <a:solidFill>
                  <a:schemeClr val="tx1"/>
                </a:solidFill>
              </a:rPr>
              <a:t>9</a:t>
            </a:r>
            <a:endParaRPr lang="en-IN" sz="1600" dirty="0">
              <a:solidFill>
                <a:schemeClr val="tx1"/>
              </a:soli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0272" y="0"/>
            <a:ext cx="1391728" cy="912483"/>
          </a:xfrm>
          <a:prstGeom prst="rect">
            <a:avLst/>
          </a:prstGeom>
        </p:spPr>
      </p:pic>
      <p:cxnSp>
        <p:nvCxnSpPr>
          <p:cNvPr id="9" name="Straight Connector 8"/>
          <p:cNvCxnSpPr/>
          <p:nvPr/>
        </p:nvCxnSpPr>
        <p:spPr>
          <a:xfrm>
            <a:off x="609600" y="667657"/>
            <a:ext cx="10334171"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3" name="Date Placeholder 2"/>
          <p:cNvSpPr>
            <a:spLocks noGrp="1"/>
          </p:cNvSpPr>
          <p:nvPr>
            <p:ph type="dt" sz="half" idx="10"/>
          </p:nvPr>
        </p:nvSpPr>
        <p:spPr/>
        <p:txBody>
          <a:bodyPr/>
          <a:lstStyle/>
          <a:p>
            <a:fld id="{1A86D5DE-AE5E-4D88-9BC5-F40A97D3299E}" type="datetime1">
              <a:rPr lang="en-IN" smtClean="0"/>
              <a:t>12-04-2025</a:t>
            </a:fld>
            <a:endParaRPr lang="en-IN" dirty="0"/>
          </a:p>
        </p:txBody>
      </p:sp>
    </p:spTree>
    <p:extLst>
      <p:ext uri="{BB962C8B-B14F-4D97-AF65-F5344CB8AC3E}">
        <p14:creationId xmlns:p14="http://schemas.microsoft.com/office/powerpoint/2010/main" val="669453559"/>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A2A8BB-778B-4947-1819-DFDA817C283B}"/>
              </a:ext>
            </a:extLst>
          </p:cNvPr>
          <p:cNvSpPr>
            <a:spLocks noGrp="1"/>
          </p:cNvSpPr>
          <p:nvPr>
            <p:ph type="dt" sz="half" idx="10"/>
          </p:nvPr>
        </p:nvSpPr>
        <p:spPr/>
        <p:txBody>
          <a:bodyPr/>
          <a:lstStyle/>
          <a:p>
            <a:fld id="{15943351-109D-42C9-8BD6-281C6608D771}" type="datetime1">
              <a:rPr lang="en-IN" smtClean="0"/>
              <a:t>12-04-2025</a:t>
            </a:fld>
            <a:endParaRPr lang="en-IN"/>
          </a:p>
        </p:txBody>
      </p:sp>
      <p:sp>
        <p:nvSpPr>
          <p:cNvPr id="3" name="Slide Number Placeholder 2">
            <a:extLst>
              <a:ext uri="{FF2B5EF4-FFF2-40B4-BE49-F238E27FC236}">
                <a16:creationId xmlns:a16="http://schemas.microsoft.com/office/drawing/2014/main" id="{5EF88A3C-D0BB-092B-9192-84B7879B77F4}"/>
              </a:ext>
            </a:extLst>
          </p:cNvPr>
          <p:cNvSpPr>
            <a:spLocks noGrp="1"/>
          </p:cNvSpPr>
          <p:nvPr>
            <p:ph type="sldNum" sz="quarter" idx="12"/>
          </p:nvPr>
        </p:nvSpPr>
        <p:spPr/>
        <p:txBody>
          <a:bodyPr/>
          <a:lstStyle/>
          <a:p>
            <a:fld id="{79CD4CE9-F1A3-4728-B74D-DBF6FEAF9982}" type="slidenum">
              <a:rPr lang="en-IN" smtClean="0"/>
              <a:t>10</a:t>
            </a:fld>
            <a:endParaRPr lang="en-IN"/>
          </a:p>
        </p:txBody>
      </p:sp>
      <p:cxnSp>
        <p:nvCxnSpPr>
          <p:cNvPr id="4" name="Straight Connector 3">
            <a:extLst>
              <a:ext uri="{FF2B5EF4-FFF2-40B4-BE49-F238E27FC236}">
                <a16:creationId xmlns:a16="http://schemas.microsoft.com/office/drawing/2014/main" id="{007FAD29-2887-287D-E0BF-E9C1DD593CF8}"/>
              </a:ext>
            </a:extLst>
          </p:cNvPr>
          <p:cNvCxnSpPr/>
          <p:nvPr/>
        </p:nvCxnSpPr>
        <p:spPr>
          <a:xfrm flipV="1">
            <a:off x="914400" y="659031"/>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0AE70318-DD9C-8721-FEF7-D96826EC41E0}"/>
              </a:ext>
            </a:extLst>
          </p:cNvPr>
          <p:cNvSpPr txBox="1"/>
          <p:nvPr/>
        </p:nvSpPr>
        <p:spPr>
          <a:xfrm>
            <a:off x="4368800" y="0"/>
            <a:ext cx="3454400" cy="461665"/>
          </a:xfrm>
          <a:prstGeom prst="rect">
            <a:avLst/>
          </a:prstGeom>
          <a:noFill/>
        </p:spPr>
        <p:txBody>
          <a:bodyPr wrap="square">
            <a:spAutoFit/>
          </a:bodyPr>
          <a:lstStyle/>
          <a:p>
            <a:r>
              <a:rPr lang="en-US" sz="2400" b="1">
                <a:latin typeface="Times New Roman" panose="02020603050405020304" pitchFamily="18" charset="0"/>
                <a:cs typeface="Times New Roman" panose="02020603050405020304" pitchFamily="18" charset="0"/>
              </a:rPr>
              <a:t>PROPOSED SYSTEM</a:t>
            </a:r>
            <a:endParaRPr lang="en-IN" sz="2400"/>
          </a:p>
        </p:txBody>
      </p:sp>
      <p:sp>
        <p:nvSpPr>
          <p:cNvPr id="8" name="TextBox 7">
            <a:extLst>
              <a:ext uri="{FF2B5EF4-FFF2-40B4-BE49-F238E27FC236}">
                <a16:creationId xmlns:a16="http://schemas.microsoft.com/office/drawing/2014/main" id="{C8012DF5-7172-EE2A-663D-45BC9189A624}"/>
              </a:ext>
            </a:extLst>
          </p:cNvPr>
          <p:cNvSpPr txBox="1"/>
          <p:nvPr/>
        </p:nvSpPr>
        <p:spPr>
          <a:xfrm>
            <a:off x="838200" y="1000656"/>
            <a:ext cx="10952644" cy="2339102"/>
          </a:xfrm>
          <a:prstGeom prst="rect">
            <a:avLst/>
          </a:prstGeom>
          <a:noFill/>
        </p:spPr>
        <p:txBody>
          <a:bodyPr wrap="square">
            <a:spAutoFit/>
          </a:bodyPr>
          <a:lstStyle/>
          <a:p>
            <a:pPr algn="just">
              <a:lnSpc>
                <a:spcPct val="150000"/>
              </a:lnSpc>
              <a:buNone/>
            </a:pPr>
            <a:r>
              <a:rPr lang="en-US" dirty="0">
                <a:latin typeface="Times New Roman" panose="02020603050405020304" pitchFamily="18" charset="0"/>
                <a:cs typeface="Times New Roman" panose="02020603050405020304" pitchFamily="18" charset="0"/>
              </a:rPr>
              <a:t>The proposed Shield Mask Detection System uses deep learning to accurately identify individuals wearing face masks, face shields, both, or none. It leverages convolutional neural networks (CNNs) for robust feature extraction and classification. The system is designed to handle variations in lighting, occlusions, and face orientations. It is lightweight and optimized for real-time deployment on edge devices for large-scale public monitoring.</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IN" dirty="0"/>
          </a:p>
        </p:txBody>
      </p:sp>
      <p:pic>
        <p:nvPicPr>
          <p:cNvPr id="9" name="Picture 8">
            <a:extLst>
              <a:ext uri="{FF2B5EF4-FFF2-40B4-BE49-F238E27FC236}">
                <a16:creationId xmlns:a16="http://schemas.microsoft.com/office/drawing/2014/main" id="{B5CE0264-A2F0-1D98-10E5-386086C77C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0053" y="1"/>
            <a:ext cx="1201947" cy="1000654"/>
          </a:xfrm>
          <a:prstGeom prst="rect">
            <a:avLst/>
          </a:prstGeom>
        </p:spPr>
      </p:pic>
    </p:spTree>
    <p:extLst>
      <p:ext uri="{BB962C8B-B14F-4D97-AF65-F5344CB8AC3E}">
        <p14:creationId xmlns:p14="http://schemas.microsoft.com/office/powerpoint/2010/main" val="2790321198"/>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53647"/>
          </a:xfrm>
        </p:spPr>
        <p:txBody>
          <a:bodyPr>
            <a:normAutofit/>
          </a:bodyPr>
          <a:lstStyle/>
          <a:p>
            <a:pPr algn="ctr"/>
            <a:r>
              <a:rPr lang="en-IN" sz="2400" b="1">
                <a:latin typeface="Times New Roman" panose="02020603050405020304" pitchFamily="18" charset="0"/>
                <a:cs typeface="Times New Roman" panose="02020603050405020304" pitchFamily="18" charset="0"/>
              </a:rPr>
              <a:t>OBJECTIVE</a:t>
            </a:r>
            <a:br>
              <a:rPr lang="en-IN" sz="2400" b="1">
                <a:latin typeface="Times New Roman" panose="02020603050405020304" pitchFamily="18" charset="0"/>
                <a:cs typeface="Times New Roman" panose="02020603050405020304" pitchFamily="18" charset="0"/>
              </a:rPr>
            </a:br>
            <a:endParaRPr lang="en-IN" sz="24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27314" y="1034872"/>
            <a:ext cx="10646228" cy="4944108"/>
          </a:xfrm>
        </p:spPr>
        <p:txBody>
          <a:bodyPr>
            <a:normAutofit/>
          </a:bodyPr>
          <a:lstStyle/>
          <a:p>
            <a:pPr algn="just">
              <a:buNone/>
            </a:pPr>
            <a:r>
              <a:rPr lang="en-IN" sz="1800" b="1"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algn="just"/>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To build a deep learning model using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MobileNet</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CNN for classifying face protection categories: mask, shield, both, and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none.To</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use Haar Cascade Classifier for efficient real-time face detection from video or image inputs.</a:t>
            </a:r>
          </a:p>
          <a:p>
            <a:pPr algn="just"/>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To train and validate the model using a diverse dataset with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labeled</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images representing different PPE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categories.To</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achieve high accuracy and low latency suitable for deployment in real-time surveillance systems.</a:t>
            </a:r>
          </a:p>
          <a:p>
            <a:pPr algn="just"/>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To integrate the system with camera feeds and evaluate performance in real-world scenarios.</a:t>
            </a:r>
          </a:p>
          <a:p>
            <a:pPr algn="just"/>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To contribute to public health efforts by promoting and monitoring compliance with mask and shield usage.</a:t>
            </a:r>
          </a:p>
          <a:p>
            <a:pPr marL="0" indent="0">
              <a:buNone/>
            </a:pPr>
            <a:endParaRPr lang="en-IN" dirty="0"/>
          </a:p>
        </p:txBody>
      </p:sp>
      <p:sp>
        <p:nvSpPr>
          <p:cNvPr id="4" name="Date Placeholder 3"/>
          <p:cNvSpPr>
            <a:spLocks noGrp="1"/>
          </p:cNvSpPr>
          <p:nvPr>
            <p:ph type="dt" sz="half" idx="10"/>
          </p:nvPr>
        </p:nvSpPr>
        <p:spPr/>
        <p:txBody>
          <a:bodyPr/>
          <a:lstStyle/>
          <a:p>
            <a:fld id="{64013B94-742D-48D3-8FAB-AFA19A2F562D}" type="datetime1">
              <a:rPr lang="en-IN" smtClean="0"/>
              <a:t>12-04-2025</a:t>
            </a:fld>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11</a:t>
            </a:fld>
            <a:endParaRPr lang="en-IN"/>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5085" y="0"/>
            <a:ext cx="1436915" cy="1132114"/>
          </a:xfrm>
          <a:prstGeom prst="rect">
            <a:avLst/>
          </a:prstGeom>
        </p:spPr>
      </p:pic>
      <p:cxnSp>
        <p:nvCxnSpPr>
          <p:cNvPr id="7" name="Straight Connector 6"/>
          <p:cNvCxnSpPr/>
          <p:nvPr/>
        </p:nvCxnSpPr>
        <p:spPr>
          <a:xfrm flipV="1">
            <a:off x="827314" y="798286"/>
            <a:ext cx="10116457" cy="14516"/>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2954050"/>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AE8BA2-50C8-327A-4754-F971A6280A6C}"/>
              </a:ext>
            </a:extLst>
          </p:cNvPr>
          <p:cNvSpPr>
            <a:spLocks noGrp="1"/>
          </p:cNvSpPr>
          <p:nvPr>
            <p:ph type="dt" sz="half" idx="10"/>
          </p:nvPr>
        </p:nvSpPr>
        <p:spPr/>
        <p:txBody>
          <a:bodyPr/>
          <a:lstStyle/>
          <a:p>
            <a:fld id="{15943351-109D-42C9-8BD6-281C6608D771}" type="datetime1">
              <a:rPr lang="en-IN" smtClean="0"/>
              <a:t>12-04-2025</a:t>
            </a:fld>
            <a:endParaRPr lang="en-IN"/>
          </a:p>
        </p:txBody>
      </p:sp>
      <p:sp>
        <p:nvSpPr>
          <p:cNvPr id="3" name="Slide Number Placeholder 2">
            <a:extLst>
              <a:ext uri="{FF2B5EF4-FFF2-40B4-BE49-F238E27FC236}">
                <a16:creationId xmlns:a16="http://schemas.microsoft.com/office/drawing/2014/main" id="{DB9C92CB-0BB7-008D-9DFC-AEC8AED4AEFF}"/>
              </a:ext>
            </a:extLst>
          </p:cNvPr>
          <p:cNvSpPr>
            <a:spLocks noGrp="1"/>
          </p:cNvSpPr>
          <p:nvPr>
            <p:ph type="sldNum" sz="quarter" idx="12"/>
          </p:nvPr>
        </p:nvSpPr>
        <p:spPr/>
        <p:txBody>
          <a:bodyPr/>
          <a:lstStyle/>
          <a:p>
            <a:fld id="{79CD4CE9-F1A3-4728-B74D-DBF6FEAF9982}" type="slidenum">
              <a:rPr lang="en-IN" smtClean="0"/>
              <a:t>12</a:t>
            </a:fld>
            <a:endParaRPr lang="en-IN"/>
          </a:p>
        </p:txBody>
      </p:sp>
      <p:cxnSp>
        <p:nvCxnSpPr>
          <p:cNvPr id="6" name="Straight Connector 5">
            <a:extLst>
              <a:ext uri="{FF2B5EF4-FFF2-40B4-BE49-F238E27FC236}">
                <a16:creationId xmlns:a16="http://schemas.microsoft.com/office/drawing/2014/main" id="{AF9110F6-FE9C-E132-0DC4-395E4929C2EC}"/>
              </a:ext>
            </a:extLst>
          </p:cNvPr>
          <p:cNvCxnSpPr/>
          <p:nvPr/>
        </p:nvCxnSpPr>
        <p:spPr>
          <a:xfrm flipV="1">
            <a:off x="838200" y="677931"/>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58B9EF96-199C-3753-47C6-B6FDD6FFF0CD}"/>
              </a:ext>
            </a:extLst>
          </p:cNvPr>
          <p:cNvSpPr txBox="1"/>
          <p:nvPr/>
        </p:nvSpPr>
        <p:spPr>
          <a:xfrm>
            <a:off x="4498340" y="68375"/>
            <a:ext cx="4719320" cy="461665"/>
          </a:xfrm>
          <a:prstGeom prst="rect">
            <a:avLst/>
          </a:prstGeom>
          <a:noFill/>
        </p:spPr>
        <p:txBody>
          <a:bodyPr wrap="square">
            <a:spAutoFit/>
          </a:bodyPr>
          <a:lstStyle/>
          <a:p>
            <a:r>
              <a:rPr lang="en-US" sz="2400" b="1">
                <a:latin typeface="Times New Roman" panose="02020603050405020304" pitchFamily="18" charset="0"/>
                <a:cs typeface="Times New Roman" panose="02020603050405020304" pitchFamily="18" charset="0"/>
              </a:rPr>
              <a:t>PROPOSED METHODOLOGY</a:t>
            </a:r>
            <a:endParaRPr lang="en-IN" sz="2400"/>
          </a:p>
        </p:txBody>
      </p:sp>
      <p:sp>
        <p:nvSpPr>
          <p:cNvPr id="16" name="TextBox 15">
            <a:extLst>
              <a:ext uri="{FF2B5EF4-FFF2-40B4-BE49-F238E27FC236}">
                <a16:creationId xmlns:a16="http://schemas.microsoft.com/office/drawing/2014/main" id="{F153C474-3D78-FD5C-BE18-82530204DEC8}"/>
              </a:ext>
            </a:extLst>
          </p:cNvPr>
          <p:cNvSpPr txBox="1"/>
          <p:nvPr/>
        </p:nvSpPr>
        <p:spPr>
          <a:xfrm>
            <a:off x="914400" y="1193346"/>
            <a:ext cx="11463020" cy="3766075"/>
          </a:xfrm>
          <a:prstGeom prst="rect">
            <a:avLst/>
          </a:prstGeom>
          <a:noFill/>
        </p:spPr>
        <p:txBody>
          <a:bodyPr wrap="square">
            <a:spAutoFit/>
          </a:bodyPr>
          <a:lstStyle/>
          <a:p>
            <a:pPr algn="just">
              <a:lnSpc>
                <a:spcPct val="150000"/>
              </a:lnSpc>
              <a:buNone/>
            </a:pPr>
            <a:r>
              <a:rPr lang="en-US" sz="2000" b="1"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PROPOSED METHOD:</a:t>
            </a:r>
            <a:endParaRPr lang="en-IN" sz="2000" dirty="0">
              <a:effectLst/>
              <a:latin typeface="Calibri" panose="020F0502020204030204" pitchFamily="34" charset="0"/>
              <a:ea typeface="DengXian" panose="020B0503020204020204" pitchFamily="2" charset="-122"/>
              <a:cs typeface="Times New Roman" panose="02020603050405020304" pitchFamily="18" charset="0"/>
            </a:endParaRPr>
          </a:p>
          <a:p>
            <a:pPr algn="just">
              <a:buNone/>
            </a:pPr>
            <a:r>
              <a:rPr lang="en-IN" sz="2000"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2000" dirty="0">
              <a:effectLst/>
              <a:latin typeface="Calibri" panose="020F0502020204030204" pitchFamily="34" charset="0"/>
              <a:ea typeface="DengXian" panose="020B0503020204020204" pitchFamily="2" charset="-122"/>
              <a:cs typeface="Times New Roman" panose="02020603050405020304" pitchFamily="18" charset="0"/>
            </a:endParaRPr>
          </a:p>
          <a:p>
            <a:pPr algn="just">
              <a:buNone/>
            </a:pPr>
            <a:r>
              <a:rPr lang="en-IN" sz="2000" dirty="0">
                <a:effectLst/>
                <a:latin typeface="Times New Roman" panose="02020603050405020304" pitchFamily="18" charset="0"/>
                <a:ea typeface="DengXian" panose="020B0503020204020204" pitchFamily="2" charset="-122"/>
                <a:cs typeface="Times New Roman" panose="02020603050405020304" pitchFamily="18" charset="0"/>
              </a:rPr>
              <a:t>Pre processing </a:t>
            </a:r>
            <a:endParaRPr lang="en-IN" sz="2000" dirty="0">
              <a:effectLst/>
              <a:latin typeface="Calibri" panose="020F0502020204030204" pitchFamily="34" charset="0"/>
              <a:ea typeface="DengXian" panose="020B0503020204020204" pitchFamily="2" charset="-122"/>
              <a:cs typeface="Times New Roman" panose="02020603050405020304" pitchFamily="18" charset="0"/>
            </a:endParaRPr>
          </a:p>
          <a:p>
            <a:pPr algn="just">
              <a:buNone/>
            </a:pPr>
            <a:r>
              <a:rPr lang="en-IN" sz="2000"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2000" dirty="0">
              <a:effectLst/>
              <a:latin typeface="Calibri" panose="020F0502020204030204" pitchFamily="34" charset="0"/>
              <a:ea typeface="DengXian" panose="020B0503020204020204" pitchFamily="2" charset="-122"/>
              <a:cs typeface="Times New Roman" panose="02020603050405020304" pitchFamily="18" charset="0"/>
            </a:endParaRPr>
          </a:p>
          <a:p>
            <a:pPr algn="just">
              <a:buNone/>
            </a:pPr>
            <a:r>
              <a:rPr lang="en-IN" sz="2000" dirty="0">
                <a:effectLst/>
                <a:latin typeface="Times New Roman" panose="02020603050405020304" pitchFamily="18" charset="0"/>
                <a:ea typeface="DengXian" panose="020B0503020204020204" pitchFamily="2" charset="-122"/>
                <a:cs typeface="Times New Roman" panose="02020603050405020304" pitchFamily="18" charset="0"/>
              </a:rPr>
              <a:t>Feature extraction </a:t>
            </a:r>
            <a:endParaRPr lang="en-IN" sz="2000" dirty="0">
              <a:effectLst/>
              <a:latin typeface="Calibri" panose="020F0502020204030204" pitchFamily="34" charset="0"/>
              <a:ea typeface="DengXian" panose="020B0503020204020204" pitchFamily="2" charset="-122"/>
              <a:cs typeface="Times New Roman" panose="02020603050405020304" pitchFamily="18" charset="0"/>
            </a:endParaRPr>
          </a:p>
          <a:p>
            <a:pPr algn="just">
              <a:buNone/>
            </a:pPr>
            <a:r>
              <a:rPr lang="en-IN" sz="2000"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2000" dirty="0">
              <a:effectLst/>
              <a:latin typeface="Calibri" panose="020F0502020204030204" pitchFamily="34" charset="0"/>
              <a:ea typeface="DengXian" panose="020B0503020204020204" pitchFamily="2" charset="-122"/>
              <a:cs typeface="Times New Roman" panose="02020603050405020304" pitchFamily="18" charset="0"/>
            </a:endParaRPr>
          </a:p>
          <a:p>
            <a:pPr algn="just">
              <a:buNone/>
            </a:pPr>
            <a:r>
              <a:rPr lang="en-IN" sz="2000" dirty="0">
                <a:effectLst/>
                <a:latin typeface="Times New Roman" panose="02020603050405020304" pitchFamily="18" charset="0"/>
                <a:ea typeface="DengXian" panose="020B0503020204020204" pitchFamily="2" charset="-122"/>
                <a:cs typeface="Times New Roman" panose="02020603050405020304" pitchFamily="18" charset="0"/>
              </a:rPr>
              <a:t>CNN (MobileNetV2)</a:t>
            </a:r>
            <a:endParaRPr lang="en-IN" sz="2000" dirty="0">
              <a:effectLst/>
              <a:latin typeface="Calibri" panose="020F0502020204030204" pitchFamily="34" charset="0"/>
              <a:ea typeface="DengXian" panose="020B0503020204020204" pitchFamily="2" charset="-122"/>
              <a:cs typeface="Times New Roman" panose="02020603050405020304" pitchFamily="18" charset="0"/>
            </a:endParaRPr>
          </a:p>
          <a:p>
            <a:pPr algn="just">
              <a:buNone/>
            </a:pPr>
            <a:r>
              <a:rPr lang="en-IN" sz="2000"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2000" dirty="0">
              <a:effectLst/>
              <a:latin typeface="Calibri" panose="020F0502020204030204" pitchFamily="34" charset="0"/>
              <a:ea typeface="DengXian" panose="020B0503020204020204" pitchFamily="2" charset="-122"/>
              <a:cs typeface="Times New Roman" panose="02020603050405020304" pitchFamily="18" charset="0"/>
            </a:endParaRPr>
          </a:p>
          <a:p>
            <a:pPr algn="just"/>
            <a:r>
              <a:rPr lang="en-IN" sz="2000" dirty="0">
                <a:effectLst/>
                <a:latin typeface="Times New Roman" panose="02020603050405020304" pitchFamily="18" charset="0"/>
                <a:ea typeface="DengXian" panose="020B0503020204020204" pitchFamily="2" charset="-122"/>
                <a:cs typeface="Times New Roman" panose="02020603050405020304" pitchFamily="18" charset="0"/>
              </a:rPr>
              <a:t>Haar Cascade</a:t>
            </a:r>
            <a:endParaRPr lang="en-IN" sz="20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p:txBody>
      </p:sp>
      <p:pic>
        <p:nvPicPr>
          <p:cNvPr id="21" name="Picture 20">
            <a:extLst>
              <a:ext uri="{FF2B5EF4-FFF2-40B4-BE49-F238E27FC236}">
                <a16:creationId xmlns:a16="http://schemas.microsoft.com/office/drawing/2014/main" id="{4822F8EC-E14A-40D3-E922-62B8B70947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5547" y="14625"/>
            <a:ext cx="1236453" cy="1042031"/>
          </a:xfrm>
          <a:prstGeom prst="rect">
            <a:avLst/>
          </a:prstGeom>
        </p:spPr>
      </p:pic>
    </p:spTree>
    <p:extLst>
      <p:ext uri="{BB962C8B-B14F-4D97-AF65-F5344CB8AC3E}">
        <p14:creationId xmlns:p14="http://schemas.microsoft.com/office/powerpoint/2010/main" val="3217781510"/>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785" y="169268"/>
            <a:ext cx="9960429" cy="462189"/>
          </a:xfrm>
        </p:spPr>
        <p:txBody>
          <a:bodyPr>
            <a:normAutofit/>
          </a:bodyPr>
          <a:lstStyle/>
          <a:p>
            <a:r>
              <a:rPr lang="en-US" sz="2400" b="1">
                <a:latin typeface="Times New Roman" panose="02020603050405020304" pitchFamily="18" charset="0"/>
                <a:cs typeface="Times New Roman" panose="02020603050405020304" pitchFamily="18" charset="0"/>
              </a:rPr>
              <a:t>ADVANTAGES OF PROPOSED SYSTEM OVER EXISTING SYSTEM</a:t>
            </a:r>
            <a:endParaRPr lang="en-IN" sz="2400" b="1">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4013B94-742D-48D3-8FAB-AFA19A2F562D}" type="datetime1">
              <a:rPr lang="en-IN" smtClean="0"/>
              <a:t>12-04-2025</a:t>
            </a:fld>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13</a:t>
            </a:fld>
            <a:endParaRPr lang="en-IN"/>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76214" y="98817"/>
            <a:ext cx="1115786" cy="1354346"/>
          </a:xfrm>
          <a:prstGeom prst="rect">
            <a:avLst/>
          </a:prstGeom>
        </p:spPr>
      </p:pic>
      <p:sp>
        <p:nvSpPr>
          <p:cNvPr id="7" name="TextBox 6">
            <a:extLst>
              <a:ext uri="{FF2B5EF4-FFF2-40B4-BE49-F238E27FC236}">
                <a16:creationId xmlns:a16="http://schemas.microsoft.com/office/drawing/2014/main" id="{5A8C0632-7E18-E6B2-54D7-DD4B570BCBE7}"/>
              </a:ext>
            </a:extLst>
          </p:cNvPr>
          <p:cNvSpPr txBox="1"/>
          <p:nvPr/>
        </p:nvSpPr>
        <p:spPr>
          <a:xfrm>
            <a:off x="914399" y="5069842"/>
            <a:ext cx="10490198" cy="1261884"/>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dirty="0"/>
          </a:p>
          <a:p>
            <a:endParaRPr lang="en-IN" dirty="0"/>
          </a:p>
        </p:txBody>
      </p:sp>
      <p:cxnSp>
        <p:nvCxnSpPr>
          <p:cNvPr id="8" name="Straight Connector 7">
            <a:extLst>
              <a:ext uri="{FF2B5EF4-FFF2-40B4-BE49-F238E27FC236}">
                <a16:creationId xmlns:a16="http://schemas.microsoft.com/office/drawing/2014/main" id="{B937A66F-D301-9263-9FEC-7FBAF90412EB}"/>
              </a:ext>
            </a:extLst>
          </p:cNvPr>
          <p:cNvCxnSpPr/>
          <p:nvPr/>
        </p:nvCxnSpPr>
        <p:spPr>
          <a:xfrm flipV="1">
            <a:off x="914400" y="986968"/>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5" name="Rectangle 7">
            <a:extLst>
              <a:ext uri="{FF2B5EF4-FFF2-40B4-BE49-F238E27FC236}">
                <a16:creationId xmlns:a16="http://schemas.microsoft.com/office/drawing/2014/main" id="{9419C060-41C9-5EE0-F84C-6804EEC34BAD}"/>
              </a:ext>
            </a:extLst>
          </p:cNvPr>
          <p:cNvSpPr>
            <a:spLocks noChangeArrowheads="1"/>
          </p:cNvSpPr>
          <p:nvPr/>
        </p:nvSpPr>
        <p:spPr bwMode="auto">
          <a:xfrm>
            <a:off x="914398" y="1552662"/>
            <a:ext cx="10490199" cy="248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a:buNone/>
            </a:pPr>
            <a:r>
              <a:rPr lang="en-IN" sz="1800" b="1" dirty="0">
                <a:effectLst/>
                <a:latin typeface="Times New Roman" panose="02020603050405020304" pitchFamily="18" charset="0"/>
                <a:ea typeface="DengXian" panose="020B0503020204020204" pitchFamily="2" charset="-122"/>
                <a:cs typeface="Times New Roman" panose="02020603050405020304" pitchFamily="18" charset="0"/>
              </a:rPr>
              <a:t>ADVANTAGES:</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algn="just">
              <a:buNone/>
            </a:pPr>
            <a:r>
              <a:rPr lang="en-IN" sz="1800" b="1"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marL="285750" lvl="0" indent="-285750" algn="just">
              <a:buFont typeface="Arial" panose="020B0604020202020204" pitchFamily="34" charset="0"/>
              <a:buChar char="•"/>
              <a:tabLst>
                <a:tab pos="266700" algn="l"/>
              </a:tabLs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Real-Time Performance</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algn="just">
              <a:buNone/>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marL="285750" lvl="0" indent="-285750" algn="just">
              <a:buFont typeface="Arial" panose="020B0604020202020204" pitchFamily="34" charset="0"/>
              <a:buChar char="•"/>
              <a:tabLst>
                <a:tab pos="266700" algn="l"/>
              </a:tabLs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Lightweight &amp; Optimized</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algn="just">
              <a:buNone/>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marL="285750" indent="-285750">
              <a:buFont typeface="Arial" panose="020B0604020202020204" pitchFamily="34" charset="0"/>
              <a:buChar char="•"/>
            </a:pPr>
            <a:r>
              <a:rPr lang="en-IN" sz="1800" dirty="0">
                <a:effectLst/>
                <a:latin typeface="Times New Roman" panose="02020603050405020304" pitchFamily="18" charset="0"/>
                <a:ea typeface="DengXian" panose="020B0503020204020204" pitchFamily="2" charset="-122"/>
              </a:rPr>
              <a:t>High Accuracy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874667"/>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C3479E-AED3-6097-20F7-004E4A6AAFE9}"/>
              </a:ext>
            </a:extLst>
          </p:cNvPr>
          <p:cNvSpPr>
            <a:spLocks noGrp="1"/>
          </p:cNvSpPr>
          <p:nvPr>
            <p:ph idx="1"/>
          </p:nvPr>
        </p:nvSpPr>
        <p:spPr>
          <a:xfrm>
            <a:off x="551544" y="762038"/>
            <a:ext cx="10802256" cy="5768449"/>
          </a:xfrm>
        </p:spPr>
        <p:txBody>
          <a:bodyPr>
            <a:noAutofit/>
          </a:bodyPr>
          <a:lstStyle/>
          <a:p>
            <a:pPr marL="0" indent="0">
              <a:lnSpc>
                <a:spcPct val="150000"/>
              </a:lnSpc>
              <a:buNone/>
            </a:pPr>
            <a:r>
              <a:rPr lang="en-IN" sz="2000" b="1">
                <a:latin typeface="Times New Roman" panose="02020603050405020304" pitchFamily="18" charset="0"/>
                <a:cs typeface="Times New Roman" panose="02020603050405020304" pitchFamily="18" charset="0"/>
              </a:rPr>
              <a:t>SOFTWARE REQUIREMENTS:</a:t>
            </a:r>
            <a:endParaRPr lang="en-IN" sz="2000">
              <a:latin typeface="Times New Roman" panose="02020603050405020304" pitchFamily="18" charset="0"/>
              <a:cs typeface="Times New Roman" panose="02020603050405020304" pitchFamily="18" charset="0"/>
            </a:endParaRPr>
          </a:p>
          <a:p>
            <a:pPr>
              <a:lnSpc>
                <a:spcPct val="150000"/>
              </a:lnSpc>
            </a:pPr>
            <a:r>
              <a:rPr lang="en-IN" sz="2000">
                <a:latin typeface="Times New Roman" panose="02020603050405020304" pitchFamily="18" charset="0"/>
                <a:cs typeface="Times New Roman" panose="02020603050405020304" pitchFamily="18" charset="0"/>
              </a:rPr>
              <a:t>Operating System		:	</a:t>
            </a:r>
            <a:r>
              <a:rPr lang="en-US" sz="2000">
                <a:latin typeface="Times New Roman" panose="02020603050405020304" pitchFamily="18" charset="0"/>
                <a:cs typeface="Times New Roman" panose="02020603050405020304" pitchFamily="18" charset="0"/>
              </a:rPr>
              <a:t>Windows 7 (or Linux/Ubuntu)</a:t>
            </a:r>
            <a:endParaRPr lang="en-IN" sz="200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Programming Languages	:	 Python</a:t>
            </a:r>
          </a:p>
          <a:p>
            <a:pPr>
              <a:lnSpc>
                <a:spcPct val="150000"/>
              </a:lnSpc>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Libraries and Frameworks	: 	TensorFlow, </a:t>
            </a:r>
            <a:r>
              <a:rPr lang="en-IN" sz="2000" err="1">
                <a:latin typeface="Times New Roman" panose="02020603050405020304" pitchFamily="18" charset="0"/>
                <a:cs typeface="Times New Roman" panose="02020603050405020304" pitchFamily="18" charset="0"/>
              </a:rPr>
              <a:t>Keras</a:t>
            </a:r>
            <a:r>
              <a:rPr lang="en-IN" sz="2000">
                <a:latin typeface="Times New Roman" panose="02020603050405020304" pitchFamily="18" charset="0"/>
                <a:cs typeface="Times New Roman" panose="02020603050405020304" pitchFamily="18" charset="0"/>
              </a:rPr>
              <a:t>, or </a:t>
            </a:r>
            <a:r>
              <a:rPr lang="en-IN" sz="2000" err="1">
                <a:latin typeface="Times New Roman" panose="02020603050405020304" pitchFamily="18" charset="0"/>
                <a:cs typeface="Times New Roman" panose="02020603050405020304" pitchFamily="18" charset="0"/>
              </a:rPr>
              <a:t>PyTorch</a:t>
            </a:r>
            <a:r>
              <a:rPr lang="en-IN" sz="2000">
                <a:latin typeface="Times New Roman" panose="02020603050405020304" pitchFamily="18" charset="0"/>
                <a:cs typeface="Times New Roman" panose="02020603050405020304" pitchFamily="18" charset="0"/>
              </a:rPr>
              <a:t>, OpenCV, NumPy, pandas,       </a:t>
            </a:r>
            <a:r>
              <a:rPr lang="en-IN" sz="100">
                <a:latin typeface="Times New Roman" panose="02020603050405020304" pitchFamily="18" charset="0"/>
                <a:cs typeface="Times New Roman" panose="02020603050405020304" pitchFamily="18" charset="0"/>
              </a:rPr>
              <a:t>M</a:t>
            </a:r>
            <a:r>
              <a:rPr lang="en-IN" sz="2000">
                <a:latin typeface="Times New Roman" panose="02020603050405020304" pitchFamily="18" charset="0"/>
                <a:cs typeface="Times New Roman" panose="02020603050405020304" pitchFamily="18" charset="0"/>
              </a:rPr>
              <a:t>                                                                     Matplotlib, Seaborn</a:t>
            </a:r>
          </a:p>
          <a:p>
            <a:pPr>
              <a:lnSpc>
                <a:spcPct val="150000"/>
              </a:lnSpc>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 Operating System                        :              Windows, Linux (Ubuntu, CentOS), or macOS</a:t>
            </a:r>
          </a:p>
          <a:p>
            <a:pPr>
              <a:lnSpc>
                <a:spcPct val="150000"/>
              </a:lnSpc>
            </a:pPr>
            <a:r>
              <a:rPr lang="en-IN" sz="2000">
                <a:latin typeface="Times New Roman" panose="02020603050405020304" pitchFamily="18" charset="0"/>
                <a:cs typeface="Times New Roman" panose="02020603050405020304" pitchFamily="18" charset="0"/>
              </a:rPr>
              <a:t>IDE 			              : 	Google </a:t>
            </a:r>
            <a:r>
              <a:rPr lang="en-IN" sz="2000" err="1">
                <a:latin typeface="Times New Roman" panose="02020603050405020304" pitchFamily="18" charset="0"/>
                <a:cs typeface="Times New Roman" panose="02020603050405020304" pitchFamily="18" charset="0"/>
              </a:rPr>
              <a:t>Colab</a:t>
            </a:r>
            <a:endParaRPr lang="en-IN" sz="2000">
              <a:latin typeface="Times New Roman" panose="02020603050405020304" pitchFamily="18" charset="0"/>
              <a:cs typeface="Times New Roman" panose="02020603050405020304" pitchFamily="18" charset="0"/>
            </a:endParaRPr>
          </a:p>
          <a:p>
            <a:pPr>
              <a:lnSpc>
                <a:spcPct val="150000"/>
              </a:lnSpc>
            </a:pPr>
            <a:r>
              <a:rPr lang="en-IN" sz="2000">
                <a:latin typeface="Times New Roman" panose="02020603050405020304" pitchFamily="18" charset="0"/>
                <a:cs typeface="Times New Roman" panose="02020603050405020304" pitchFamily="18" charset="0"/>
              </a:rPr>
              <a:t>Other Tools		              : 	</a:t>
            </a:r>
            <a:r>
              <a:rPr lang="en-US" sz="2000">
                <a:latin typeface="Times New Roman" panose="02020603050405020304" pitchFamily="18" charset="0"/>
                <a:cs typeface="Times New Roman" panose="02020603050405020304" pitchFamily="18" charset="0"/>
              </a:rPr>
              <a:t>YOLO, </a:t>
            </a:r>
            <a:r>
              <a:rPr lang="en-US" sz="2000" err="1">
                <a:latin typeface="Times New Roman" panose="02020603050405020304" pitchFamily="18" charset="0"/>
                <a:cs typeface="Times New Roman" panose="02020603050405020304" pitchFamily="18" charset="0"/>
              </a:rPr>
              <a:t>MobileNet</a:t>
            </a:r>
            <a:r>
              <a:rPr lang="en-US" sz="2000">
                <a:latin typeface="Times New Roman" panose="02020603050405020304" pitchFamily="18" charset="0"/>
                <a:cs typeface="Times New Roman" panose="02020603050405020304" pitchFamily="18" charset="0"/>
              </a:rPr>
              <a:t> (for face detection)</a:t>
            </a:r>
            <a:endParaRPr lang="en-IN" sz="2000">
              <a:latin typeface="Times New Roman" panose="02020603050405020304" pitchFamily="18" charset="0"/>
              <a:cs typeface="Times New Roman" panose="02020603050405020304" pitchFamily="18" charset="0"/>
            </a:endParaRPr>
          </a:p>
          <a:p>
            <a:pPr marL="0" indent="0">
              <a:lnSpc>
                <a:spcPct val="100000"/>
              </a:lnSpc>
              <a:spcBef>
                <a:spcPts val="0"/>
              </a:spcBef>
              <a:buNone/>
            </a:pPr>
            <a:endParaRPr lang="en-IN" sz="240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71678A2-5FDF-AB25-8769-4D34C1B10919}"/>
              </a:ext>
            </a:extLst>
          </p:cNvPr>
          <p:cNvSpPr>
            <a:spLocks noGrp="1"/>
          </p:cNvSpPr>
          <p:nvPr>
            <p:ph type="sldNum" sz="quarter" idx="12"/>
          </p:nvPr>
        </p:nvSpPr>
        <p:spPr>
          <a:xfrm>
            <a:off x="8673639" y="6216017"/>
            <a:ext cx="2743200" cy="365125"/>
          </a:xfrm>
        </p:spPr>
        <p:txBody>
          <a:bodyPr/>
          <a:lstStyle/>
          <a:p>
            <a:r>
              <a:rPr lang="en-US" sz="1600" dirty="0">
                <a:solidFill>
                  <a:schemeClr val="tx1"/>
                </a:solidFill>
              </a:rPr>
              <a:t>14</a:t>
            </a:r>
            <a:endParaRPr lang="en-IN" sz="1600" dirty="0">
              <a:solidFill>
                <a:schemeClr val="tx1"/>
              </a:soli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714" y="0"/>
            <a:ext cx="1433286" cy="991964"/>
          </a:xfrm>
          <a:prstGeom prst="rect">
            <a:avLst/>
          </a:prstGeom>
        </p:spPr>
      </p:pic>
      <p:sp>
        <p:nvSpPr>
          <p:cNvPr id="5" name="Rectangle 4"/>
          <p:cNvSpPr/>
          <p:nvPr/>
        </p:nvSpPr>
        <p:spPr>
          <a:xfrm>
            <a:off x="3196561" y="0"/>
            <a:ext cx="5801203" cy="461665"/>
          </a:xfrm>
          <a:prstGeom prst="rect">
            <a:avLst/>
          </a:prstGeom>
        </p:spPr>
        <p:txBody>
          <a:bodyPr wrap="none">
            <a:spAutoFit/>
          </a:bodyPr>
          <a:lstStyle/>
          <a:p>
            <a:pPr algn="ctr"/>
            <a:r>
              <a:rPr lang="en-IN" sz="2400" b="1">
                <a:latin typeface="Times New Roman" panose="02020603050405020304" pitchFamily="18" charset="0"/>
                <a:cs typeface="Times New Roman" panose="02020603050405020304" pitchFamily="18" charset="0"/>
              </a:rPr>
              <a:t>REQUIREMENTS &amp; SPECIFICATION </a:t>
            </a:r>
            <a:endParaRPr lang="en-IN" sz="2400"/>
          </a:p>
        </p:txBody>
      </p:sp>
      <p:cxnSp>
        <p:nvCxnSpPr>
          <p:cNvPr id="8" name="Straight Connector 7"/>
          <p:cNvCxnSpPr/>
          <p:nvPr/>
        </p:nvCxnSpPr>
        <p:spPr>
          <a:xfrm>
            <a:off x="609600" y="667657"/>
            <a:ext cx="10334171"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a:cxnSpLocks/>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0" name="Date Placeholder 9"/>
          <p:cNvSpPr>
            <a:spLocks noGrp="1"/>
          </p:cNvSpPr>
          <p:nvPr>
            <p:ph type="dt" sz="half" idx="10"/>
          </p:nvPr>
        </p:nvSpPr>
        <p:spPr/>
        <p:txBody>
          <a:bodyPr/>
          <a:lstStyle/>
          <a:p>
            <a:fld id="{7F147677-F9F4-401B-8592-25212C9ECB2F}" type="datetime1">
              <a:rPr lang="en-IN" smtClean="0"/>
              <a:t>12-04-2025</a:t>
            </a:fld>
            <a:endParaRPr lang="en-IN"/>
          </a:p>
        </p:txBody>
      </p:sp>
    </p:spTree>
    <p:extLst>
      <p:ext uri="{BB962C8B-B14F-4D97-AF65-F5344CB8AC3E}">
        <p14:creationId xmlns:p14="http://schemas.microsoft.com/office/powerpoint/2010/main" val="3438479490"/>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54AAD3-2C39-0A22-2E15-E26B4923CABB}"/>
              </a:ext>
            </a:extLst>
          </p:cNvPr>
          <p:cNvSpPr>
            <a:spLocks noGrp="1"/>
          </p:cNvSpPr>
          <p:nvPr>
            <p:ph type="dt" sz="half" idx="10"/>
          </p:nvPr>
        </p:nvSpPr>
        <p:spPr/>
        <p:txBody>
          <a:bodyPr/>
          <a:lstStyle/>
          <a:p>
            <a:fld id="{15943351-109D-42C9-8BD6-281C6608D771}" type="datetime1">
              <a:rPr lang="en-IN" smtClean="0"/>
              <a:t>12-04-2025</a:t>
            </a:fld>
            <a:endParaRPr lang="en-IN"/>
          </a:p>
        </p:txBody>
      </p:sp>
      <p:sp>
        <p:nvSpPr>
          <p:cNvPr id="3" name="Slide Number Placeholder 2">
            <a:extLst>
              <a:ext uri="{FF2B5EF4-FFF2-40B4-BE49-F238E27FC236}">
                <a16:creationId xmlns:a16="http://schemas.microsoft.com/office/drawing/2014/main" id="{1A0534F8-2231-0A93-BD0A-87133FD469E4}"/>
              </a:ext>
            </a:extLst>
          </p:cNvPr>
          <p:cNvSpPr>
            <a:spLocks noGrp="1"/>
          </p:cNvSpPr>
          <p:nvPr>
            <p:ph type="sldNum" sz="quarter" idx="12"/>
          </p:nvPr>
        </p:nvSpPr>
        <p:spPr/>
        <p:txBody>
          <a:bodyPr/>
          <a:lstStyle/>
          <a:p>
            <a:fld id="{79CD4CE9-F1A3-4728-B74D-DBF6FEAF9982}" type="slidenum">
              <a:rPr lang="en-IN" smtClean="0"/>
              <a:t>15</a:t>
            </a:fld>
            <a:endParaRPr lang="en-IN"/>
          </a:p>
        </p:txBody>
      </p:sp>
      <p:sp>
        <p:nvSpPr>
          <p:cNvPr id="5" name="TextBox 4">
            <a:extLst>
              <a:ext uri="{FF2B5EF4-FFF2-40B4-BE49-F238E27FC236}">
                <a16:creationId xmlns:a16="http://schemas.microsoft.com/office/drawing/2014/main" id="{1C67A0CA-5657-6BF0-FA0D-F8275DADCA3C}"/>
              </a:ext>
            </a:extLst>
          </p:cNvPr>
          <p:cNvSpPr txBox="1"/>
          <p:nvPr/>
        </p:nvSpPr>
        <p:spPr>
          <a:xfrm>
            <a:off x="551543" y="1072063"/>
            <a:ext cx="9170526" cy="2806987"/>
          </a:xfrm>
          <a:prstGeom prst="rect">
            <a:avLst/>
          </a:prstGeom>
          <a:noFill/>
        </p:spPr>
        <p:txBody>
          <a:bodyPr wrap="square">
            <a:spAutoFit/>
          </a:bodyPr>
          <a:lstStyle/>
          <a:p>
            <a:pPr marL="0" indent="0">
              <a:lnSpc>
                <a:spcPct val="150000"/>
              </a:lnSpc>
              <a:buNone/>
            </a:pPr>
            <a:r>
              <a:rPr lang="en-IN" sz="2000" b="1">
                <a:latin typeface="Times New Roman" panose="02020603050405020304" pitchFamily="18" charset="0"/>
                <a:cs typeface="Times New Roman" panose="02020603050405020304" pitchFamily="18" charset="0"/>
              </a:rPr>
              <a:t>HARDWARE REQUIREMENTS</a:t>
            </a:r>
          </a:p>
          <a:p>
            <a:pPr marL="0" indent="0">
              <a:lnSpc>
                <a:spcPct val="150000"/>
              </a:lnSpc>
              <a:buNone/>
            </a:pPr>
            <a:endParaRPr lang="en-IN" sz="200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IN" sz="2000">
                <a:latin typeface="Times New Roman" panose="02020603050405020304" pitchFamily="18" charset="0"/>
                <a:cs typeface="Times New Roman" panose="02020603050405020304" pitchFamily="18" charset="0"/>
              </a:rPr>
              <a:t>RAM				                          : </a:t>
            </a:r>
            <a:r>
              <a:rPr lang="en-IN" sz="2000" b="1">
                <a:latin typeface="Times New Roman" panose="02020603050405020304" pitchFamily="18" charset="0"/>
                <a:cs typeface="Times New Roman" panose="02020603050405020304" pitchFamily="18" charset="0"/>
              </a:rPr>
              <a:t>   </a:t>
            </a:r>
            <a:r>
              <a:rPr lang="en-IN" sz="2000">
                <a:latin typeface="Times New Roman" panose="02020603050405020304" pitchFamily="18" charset="0"/>
                <a:cs typeface="Times New Roman" panose="02020603050405020304" pitchFamily="18" charset="0"/>
              </a:rPr>
              <a:t>8GB to 16GB</a:t>
            </a:r>
          </a:p>
          <a:p>
            <a:pPr>
              <a:lnSpc>
                <a:spcPct val="150000"/>
              </a:lnSpc>
              <a:buFont typeface="Wingdings" panose="05000000000000000000" pitchFamily="2" charset="2"/>
              <a:buChar char="§"/>
            </a:pPr>
            <a:r>
              <a:rPr lang="en-IN" sz="2000">
                <a:latin typeface="Times New Roman" panose="02020603050405020304" pitchFamily="18" charset="0"/>
                <a:cs typeface="Times New Roman" panose="02020603050405020304" pitchFamily="18" charset="0"/>
              </a:rPr>
              <a:t>Hard Disk                                            :    At least 1 TB(SSD or HDD)</a:t>
            </a:r>
          </a:p>
          <a:p>
            <a:pPr>
              <a:lnSpc>
                <a:spcPct val="150000"/>
              </a:lnSpc>
              <a:buFont typeface="Wingdings" panose="05000000000000000000" pitchFamily="2" charset="2"/>
              <a:buChar char="§"/>
            </a:pPr>
            <a:r>
              <a:rPr lang="en-IN" sz="2000">
                <a:latin typeface="Times New Roman" panose="02020603050405020304" pitchFamily="18" charset="0"/>
                <a:cs typeface="Times New Roman" panose="02020603050405020304" pitchFamily="18" charset="0"/>
              </a:rPr>
              <a:t>Camera                                                :    High-definition webcam or CCTV camera</a:t>
            </a:r>
          </a:p>
          <a:p>
            <a:pPr>
              <a:lnSpc>
                <a:spcPct val="150000"/>
              </a:lnSpc>
              <a:buFont typeface="Wingdings" panose="05000000000000000000" pitchFamily="2" charset="2"/>
              <a:buChar char="§"/>
            </a:pPr>
            <a:r>
              <a:rPr lang="en-IN" sz="2000">
                <a:latin typeface="Times New Roman" panose="02020603050405020304" pitchFamily="18" charset="0"/>
                <a:cs typeface="Times New Roman" panose="02020603050405020304" pitchFamily="18" charset="0"/>
              </a:rPr>
              <a:t>Power Supply                                      :    Reliable power source</a:t>
            </a:r>
          </a:p>
        </p:txBody>
      </p:sp>
      <p:cxnSp>
        <p:nvCxnSpPr>
          <p:cNvPr id="6" name="Straight Connector 5">
            <a:extLst>
              <a:ext uri="{FF2B5EF4-FFF2-40B4-BE49-F238E27FC236}">
                <a16:creationId xmlns:a16="http://schemas.microsoft.com/office/drawing/2014/main" id="{7C805CFA-18AF-E5F6-86F5-3D38A5A75D34}"/>
              </a:ext>
            </a:extLst>
          </p:cNvPr>
          <p:cNvCxnSpPr>
            <a:cxnSpLocks/>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D6EF798E-62CE-598C-5041-AA38176107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43404" y="0"/>
            <a:ext cx="1348596" cy="1072058"/>
          </a:xfrm>
          <a:prstGeom prst="rect">
            <a:avLst/>
          </a:prstGeom>
        </p:spPr>
      </p:pic>
    </p:spTree>
    <p:extLst>
      <p:ext uri="{BB962C8B-B14F-4D97-AF65-F5344CB8AC3E}">
        <p14:creationId xmlns:p14="http://schemas.microsoft.com/office/powerpoint/2010/main" val="2031447121"/>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9800" y="103869"/>
            <a:ext cx="4604657" cy="404132"/>
          </a:xfrm>
        </p:spPr>
        <p:txBody>
          <a:bodyPr>
            <a:normAutofit fontScale="90000"/>
          </a:bodyPr>
          <a:lstStyle/>
          <a:p>
            <a:pPr algn="ctr"/>
            <a:r>
              <a:rPr lang="en-US" sz="2400" b="1">
                <a:latin typeface="Times New Roman" panose="02020603050405020304" pitchFamily="18" charset="0"/>
                <a:cs typeface="Times New Roman" panose="02020603050405020304" pitchFamily="18" charset="0"/>
              </a:rPr>
              <a:t>PROJECT TIME PLAN </a:t>
            </a:r>
            <a:endParaRPr lang="en-IN" sz="2400" b="1">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4013B94-742D-48D3-8FAB-AFA19A2F562D}" type="datetime1">
              <a:rPr lang="en-IN" smtClean="0"/>
              <a:t>12-04-2025</a:t>
            </a:fld>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16</a:t>
            </a:fld>
            <a:endParaRPr lang="en-IN"/>
          </a:p>
        </p:txBody>
      </p:sp>
      <p:graphicFrame>
        <p:nvGraphicFramePr>
          <p:cNvPr id="6" name="Table 5"/>
          <p:cNvGraphicFramePr>
            <a:graphicFrameLocks noGrp="1"/>
          </p:cNvGraphicFramePr>
          <p:nvPr>
            <p:extLst>
              <p:ext uri="{D42A27DB-BD31-4B8C-83A1-F6EECF244321}">
                <p14:modId xmlns:p14="http://schemas.microsoft.com/office/powerpoint/2010/main" val="662315501"/>
              </p:ext>
            </p:extLst>
          </p:nvPr>
        </p:nvGraphicFramePr>
        <p:xfrm>
          <a:off x="2562587" y="887910"/>
          <a:ext cx="7669983" cy="4765966"/>
        </p:xfrm>
        <a:graphic>
          <a:graphicData uri="http://schemas.openxmlformats.org/drawingml/2006/table">
            <a:tbl>
              <a:tblPr firstRow="1" firstCol="1" bandRow="1">
                <a:tableStyleId>{5940675A-B579-460E-94D1-54222C63F5DA}</a:tableStyleId>
              </a:tblPr>
              <a:tblGrid>
                <a:gridCol w="833756">
                  <a:extLst>
                    <a:ext uri="{9D8B030D-6E8A-4147-A177-3AD203B41FA5}">
                      <a16:colId xmlns:a16="http://schemas.microsoft.com/office/drawing/2014/main" val="20000"/>
                    </a:ext>
                  </a:extLst>
                </a:gridCol>
                <a:gridCol w="3277450">
                  <a:extLst>
                    <a:ext uri="{9D8B030D-6E8A-4147-A177-3AD203B41FA5}">
                      <a16:colId xmlns:a16="http://schemas.microsoft.com/office/drawing/2014/main" val="20001"/>
                    </a:ext>
                  </a:extLst>
                </a:gridCol>
                <a:gridCol w="3558777">
                  <a:extLst>
                    <a:ext uri="{9D8B030D-6E8A-4147-A177-3AD203B41FA5}">
                      <a16:colId xmlns:a16="http://schemas.microsoft.com/office/drawing/2014/main" val="20002"/>
                    </a:ext>
                  </a:extLst>
                </a:gridCol>
              </a:tblGrid>
              <a:tr h="566762">
                <a:tc>
                  <a:txBody>
                    <a:bodyPr/>
                    <a:lstStyle/>
                    <a:p>
                      <a:pPr marL="0" marR="0" algn="ctr">
                        <a:lnSpc>
                          <a:spcPct val="107000"/>
                        </a:lnSpc>
                        <a:spcBef>
                          <a:spcPts val="0"/>
                        </a:spcBef>
                        <a:spcAft>
                          <a:spcPts val="0"/>
                        </a:spcAft>
                      </a:pPr>
                      <a:r>
                        <a:rPr lang="en-IN" sz="2000" b="1">
                          <a:effectLst/>
                          <a:latin typeface="Times New Roman" panose="02020603050405020304" pitchFamily="18" charset="0"/>
                          <a:cs typeface="Times New Roman" panose="02020603050405020304" pitchFamily="18" charset="0"/>
                        </a:rPr>
                        <a:t>SNO</a:t>
                      </a:r>
                      <a:endParaRPr lang="en-IN" sz="20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b="1">
                          <a:effectLst/>
                          <a:latin typeface="Times New Roman" panose="02020603050405020304" pitchFamily="18" charset="0"/>
                          <a:cs typeface="Times New Roman" panose="02020603050405020304" pitchFamily="18" charset="0"/>
                        </a:rPr>
                        <a:t>DURATION</a:t>
                      </a:r>
                      <a:endParaRPr lang="en-IN" sz="20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b="1">
                          <a:effectLst/>
                          <a:latin typeface="Times New Roman" panose="02020603050405020304" pitchFamily="18" charset="0"/>
                          <a:cs typeface="Times New Roman" panose="02020603050405020304" pitchFamily="18" charset="0"/>
                        </a:rPr>
                        <a:t>TASK</a:t>
                      </a:r>
                      <a:endParaRPr lang="en-IN" sz="20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66762">
                <a:tc>
                  <a:txBody>
                    <a:bodyPr/>
                    <a:lstStyle/>
                    <a:p>
                      <a:pPr marL="342900" marR="0" lvl="0" indent="-342900" algn="ctr">
                        <a:lnSpc>
                          <a:spcPct val="107000"/>
                        </a:lnSpc>
                        <a:spcBef>
                          <a:spcPts val="0"/>
                        </a:spcBef>
                        <a:spcAft>
                          <a:spcPts val="0"/>
                        </a:spcAft>
                        <a:buFont typeface="+mj-lt"/>
                        <a:buAutoNum type="arabicPeriod"/>
                      </a:pPr>
                      <a:r>
                        <a:rPr lang="en-IN" sz="2000">
                          <a:effectLst/>
                          <a:latin typeface="Times New Roman" panose="02020603050405020304" pitchFamily="18" charset="0"/>
                          <a:cs typeface="Times New Roman" panose="02020603050405020304" pitchFamily="18" charset="0"/>
                        </a:rPr>
                        <a:t>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09.01.2025 to 11.01.2025</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    Submission of abstract</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66762">
                <a:tc>
                  <a:txBody>
                    <a:bodyPr/>
                    <a:lstStyle/>
                    <a:p>
                      <a:pPr marL="0" marR="0" lvl="0" indent="0" algn="ctr">
                        <a:lnSpc>
                          <a:spcPct val="107000"/>
                        </a:lnSpc>
                        <a:spcBef>
                          <a:spcPts val="0"/>
                        </a:spcBef>
                        <a:spcAft>
                          <a:spcPts val="0"/>
                        </a:spcAft>
                        <a:buFont typeface="+mj-lt"/>
                        <a:buNone/>
                      </a:pPr>
                      <a:r>
                        <a:rPr lang="en-IN" sz="2000">
                          <a:effectLst/>
                          <a:latin typeface="Times New Roman" panose="02020603050405020304" pitchFamily="18" charset="0"/>
                          <a:cs typeface="Times New Roman" panose="02020603050405020304" pitchFamily="18" charset="0"/>
                        </a:rPr>
                        <a:t>2. 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20.01.2025 to 25.01.2025</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     Abstract presentation</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566762">
                <a:tc>
                  <a:txBody>
                    <a:bodyPr/>
                    <a:lstStyle/>
                    <a:p>
                      <a:pPr marL="0" marR="0" lvl="0" indent="0" algn="ctr">
                        <a:lnSpc>
                          <a:spcPct val="107000"/>
                        </a:lnSpc>
                        <a:spcBef>
                          <a:spcPts val="0"/>
                        </a:spcBef>
                        <a:spcAft>
                          <a:spcPts val="0"/>
                        </a:spcAft>
                        <a:buFont typeface="+mj-lt"/>
                        <a:buNone/>
                      </a:pPr>
                      <a:r>
                        <a:rPr lang="en-IN" sz="2000">
                          <a:effectLst/>
                          <a:latin typeface="Times New Roman" panose="02020603050405020304" pitchFamily="18" charset="0"/>
                          <a:cs typeface="Times New Roman" panose="02020603050405020304" pitchFamily="18" charset="0"/>
                        </a:rPr>
                        <a:t>3. 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10.02.2025 to 15.02.2025</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Literature survey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73516">
                <a:tc>
                  <a:txBody>
                    <a:bodyPr/>
                    <a:lstStyle/>
                    <a:p>
                      <a:pPr marL="0" marR="0" lvl="0" indent="0" algn="ctr">
                        <a:lnSpc>
                          <a:spcPct val="107000"/>
                        </a:lnSpc>
                        <a:spcBef>
                          <a:spcPts val="0"/>
                        </a:spcBef>
                        <a:spcAft>
                          <a:spcPts val="0"/>
                        </a:spcAft>
                        <a:buFont typeface="+mj-lt"/>
                        <a:buNone/>
                      </a:pPr>
                      <a:r>
                        <a:rPr lang="en-IN" sz="2000">
                          <a:effectLst/>
                          <a:latin typeface="Times New Roman" panose="02020603050405020304" pitchFamily="18" charset="0"/>
                          <a:cs typeface="Times New Roman" panose="02020603050405020304" pitchFamily="18" charset="0"/>
                        </a:rPr>
                        <a:t>4. 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4.02.2025 to 01.03.2025</a:t>
                      </a:r>
                    </a:p>
                    <a:p>
                      <a:pPr marL="0" marR="0" algn="ctr">
                        <a:lnSpc>
                          <a:spcPct val="107000"/>
                        </a:lnSpc>
                        <a:spcBef>
                          <a:spcPts val="0"/>
                        </a:spcBef>
                        <a:spcAft>
                          <a:spcPts val="0"/>
                        </a:spcAft>
                      </a:pP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sz="200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roject</a:t>
                      </a:r>
                      <a:r>
                        <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Design</a:t>
                      </a:r>
                    </a:p>
                  </a:txBody>
                  <a:tcPr marL="68580" marR="68580" marT="0" marB="0"/>
                </a:tc>
                <a:extLst>
                  <a:ext uri="{0D108BD9-81ED-4DB2-BD59-A6C34878D82A}">
                    <a16:rowId xmlns:a16="http://schemas.microsoft.com/office/drawing/2014/main" val="10004"/>
                  </a:ext>
                </a:extLst>
              </a:tr>
              <a:tr h="273516">
                <a:tc>
                  <a:txBody>
                    <a:bodyPr/>
                    <a:lstStyle/>
                    <a:p>
                      <a:pPr marL="0" marR="0" lvl="0" indent="0" algn="ctr">
                        <a:lnSpc>
                          <a:spcPct val="107000"/>
                        </a:lnSpc>
                        <a:spcBef>
                          <a:spcPts val="0"/>
                        </a:spcBef>
                        <a:spcAft>
                          <a:spcPts val="0"/>
                        </a:spcAft>
                        <a:buFont typeface="+mj-lt"/>
                        <a:buNone/>
                      </a:pPr>
                      <a:r>
                        <a:rPr lang="en-US" sz="2000">
                          <a:solidFill>
                            <a:schemeClr val="tx1"/>
                          </a:solidFill>
                          <a:effectLst/>
                          <a:latin typeface="Times New Roman" panose="02020603050405020304" pitchFamily="18" charset="0"/>
                          <a:ea typeface="+mn-ea"/>
                          <a:cs typeface="Times New Roman" panose="02020603050405020304" pitchFamily="18" charset="0"/>
                        </a:rPr>
                        <a:t>5.</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273516">
                <a:tc>
                  <a:txBody>
                    <a:bodyPr/>
                    <a:lstStyle/>
                    <a:p>
                      <a:pPr marL="0" marR="0" lvl="0" indent="0" algn="ctr">
                        <a:lnSpc>
                          <a:spcPct val="107000"/>
                        </a:lnSpc>
                        <a:spcBef>
                          <a:spcPts val="0"/>
                        </a:spcBef>
                        <a:spcAft>
                          <a:spcPts val="0"/>
                        </a:spcAft>
                        <a:buFont typeface="+mj-lt"/>
                        <a:buNone/>
                      </a:pPr>
                      <a:r>
                        <a:rPr lang="en-IN" sz="2000">
                          <a:effectLst/>
                          <a:latin typeface="Times New Roman" panose="02020603050405020304" pitchFamily="18" charset="0"/>
                          <a:cs typeface="Times New Roman" panose="02020603050405020304" pitchFamily="18" charset="0"/>
                        </a:rPr>
                        <a:t>6. 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566762">
                <a:tc>
                  <a:txBody>
                    <a:bodyPr/>
                    <a:lstStyle/>
                    <a:p>
                      <a:pPr marL="0" marR="0" lvl="0" indent="0" algn="ctr">
                        <a:lnSpc>
                          <a:spcPct val="107000"/>
                        </a:lnSpc>
                        <a:spcBef>
                          <a:spcPts val="0"/>
                        </a:spcBef>
                        <a:spcAft>
                          <a:spcPts val="0"/>
                        </a:spcAft>
                        <a:buFont typeface="+mj-lt"/>
                        <a:buNone/>
                      </a:pPr>
                      <a:r>
                        <a:rPr lang="en-IN" sz="2000">
                          <a:effectLst/>
                          <a:latin typeface="Times New Roman" panose="02020603050405020304" pitchFamily="18" charset="0"/>
                          <a:cs typeface="Times New Roman" panose="02020603050405020304" pitchFamily="18" charset="0"/>
                        </a:rPr>
                        <a:t>7. 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31.03.2025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Submission of Publication document</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566762">
                <a:tc>
                  <a:txBody>
                    <a:bodyPr/>
                    <a:lstStyle/>
                    <a:p>
                      <a:pPr marL="0" marR="0" lvl="0" indent="0" algn="ctr">
                        <a:lnSpc>
                          <a:spcPct val="107000"/>
                        </a:lnSpc>
                        <a:spcBef>
                          <a:spcPts val="0"/>
                        </a:spcBef>
                        <a:spcAft>
                          <a:spcPts val="0"/>
                        </a:spcAft>
                        <a:buFont typeface="+mj-lt"/>
                        <a:buNone/>
                      </a:pPr>
                      <a:r>
                        <a:rPr lang="en-IN" sz="2000">
                          <a:effectLst/>
                          <a:latin typeface="Times New Roman" panose="02020603050405020304" pitchFamily="18" charset="0"/>
                          <a:cs typeface="Times New Roman" panose="02020603050405020304" pitchFamily="18" charset="0"/>
                        </a:rPr>
                        <a:t>8. 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07.04.2025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000">
                          <a:effectLst/>
                          <a:latin typeface="Times New Roman" panose="02020603050405020304" pitchFamily="18" charset="0"/>
                          <a:cs typeface="Times New Roman" panose="02020603050405020304" pitchFamily="18" charset="0"/>
                        </a:rPr>
                        <a:t>Submission of Final Project Document </a:t>
                      </a:r>
                      <a:endParaRPr lang="en-IN"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0656" y="1"/>
            <a:ext cx="1491343" cy="1148412"/>
          </a:xfrm>
          <a:prstGeom prst="rect">
            <a:avLst/>
          </a:prstGeom>
        </p:spPr>
      </p:pic>
      <p:cxnSp>
        <p:nvCxnSpPr>
          <p:cNvPr id="8" name="Straight Connector 7"/>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38325990"/>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CDCF9F06-CE06-9963-1BBD-4E8ACA3E2E51}"/>
              </a:ext>
            </a:extLst>
          </p:cNvPr>
          <p:cNvSpPr>
            <a:spLocks noGrp="1"/>
          </p:cNvSpPr>
          <p:nvPr>
            <p:ph type="title"/>
          </p:nvPr>
        </p:nvSpPr>
        <p:spPr>
          <a:xfrm>
            <a:off x="1584960" y="136524"/>
            <a:ext cx="7025640" cy="623975"/>
          </a:xfrm>
        </p:spPr>
        <p:txBody>
          <a:bodyPr>
            <a:noAutofit/>
          </a:bodyPr>
          <a:lstStyle/>
          <a:p>
            <a:pPr algn="ctr"/>
            <a:r>
              <a:rPr lang="en-US" sz="2400" b="1">
                <a:latin typeface="Times New Roman" panose="02020603050405020304" pitchFamily="18" charset="0"/>
                <a:cs typeface="Times New Roman" panose="02020603050405020304" pitchFamily="18" charset="0"/>
              </a:rPr>
              <a:t>SYSTEM</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DESIGN</a:t>
            </a:r>
            <a:endParaRPr lang="en-IN" sz="2400" b="1">
              <a:latin typeface="Times New Roman" panose="02020603050405020304" pitchFamily="18" charset="0"/>
              <a:cs typeface="Times New Roman" panose="02020603050405020304" pitchFamily="18" charset="0"/>
            </a:endParaRPr>
          </a:p>
        </p:txBody>
      </p:sp>
      <p:sp>
        <p:nvSpPr>
          <p:cNvPr id="19" name="Text Placeholder 18">
            <a:extLst>
              <a:ext uri="{FF2B5EF4-FFF2-40B4-BE49-F238E27FC236}">
                <a16:creationId xmlns:a16="http://schemas.microsoft.com/office/drawing/2014/main" id="{5CF7A6E4-D396-6AE3-B85C-5E78F3B2C736}"/>
              </a:ext>
            </a:extLst>
          </p:cNvPr>
          <p:cNvSpPr>
            <a:spLocks noGrp="1"/>
          </p:cNvSpPr>
          <p:nvPr>
            <p:ph type="body" sz="half" idx="2"/>
          </p:nvPr>
        </p:nvSpPr>
        <p:spPr>
          <a:xfrm>
            <a:off x="631791" y="939889"/>
            <a:ext cx="3132490" cy="4929100"/>
          </a:xfrm>
        </p:spPr>
        <p:txBody>
          <a:bodyPr>
            <a:normAutofit/>
          </a:bodyPr>
          <a:lstStyle/>
          <a:p>
            <a:r>
              <a:rPr lang="en-US" sz="2400" b="1" dirty="0">
                <a:latin typeface="Times New Roman" panose="02020603050405020304" pitchFamily="18" charset="0"/>
                <a:cs typeface="Times New Roman" panose="02020603050405020304" pitchFamily="18" charset="0"/>
              </a:rPr>
              <a:t>Architecture:</a:t>
            </a:r>
          </a:p>
        </p:txBody>
      </p:sp>
      <p:sp>
        <p:nvSpPr>
          <p:cNvPr id="2" name="Date Placeholder 1">
            <a:extLst>
              <a:ext uri="{FF2B5EF4-FFF2-40B4-BE49-F238E27FC236}">
                <a16:creationId xmlns:a16="http://schemas.microsoft.com/office/drawing/2014/main" id="{27FCCD3B-DF83-D81D-0FED-F9E6CE2B4178}"/>
              </a:ext>
            </a:extLst>
          </p:cNvPr>
          <p:cNvSpPr>
            <a:spLocks noGrp="1"/>
          </p:cNvSpPr>
          <p:nvPr>
            <p:ph type="dt" sz="half" idx="10"/>
          </p:nvPr>
        </p:nvSpPr>
        <p:spPr/>
        <p:txBody>
          <a:bodyPr/>
          <a:lstStyle/>
          <a:p>
            <a:fld id="{15943351-109D-42C9-8BD6-281C6608D771}" type="datetime1">
              <a:rPr lang="en-IN" smtClean="0"/>
              <a:t>12-04-2025</a:t>
            </a:fld>
            <a:endParaRPr lang="en-IN"/>
          </a:p>
        </p:txBody>
      </p:sp>
      <p:sp>
        <p:nvSpPr>
          <p:cNvPr id="3" name="Slide Number Placeholder 2">
            <a:extLst>
              <a:ext uri="{FF2B5EF4-FFF2-40B4-BE49-F238E27FC236}">
                <a16:creationId xmlns:a16="http://schemas.microsoft.com/office/drawing/2014/main" id="{10B6D2FE-6630-A644-B912-544D0DD0BA00}"/>
              </a:ext>
            </a:extLst>
          </p:cNvPr>
          <p:cNvSpPr>
            <a:spLocks noGrp="1"/>
          </p:cNvSpPr>
          <p:nvPr>
            <p:ph type="sldNum" sz="quarter" idx="12"/>
          </p:nvPr>
        </p:nvSpPr>
        <p:spPr/>
        <p:txBody>
          <a:bodyPr/>
          <a:lstStyle/>
          <a:p>
            <a:fld id="{79CD4CE9-F1A3-4728-B74D-DBF6FEAF9982}" type="slidenum">
              <a:rPr lang="en-IN" smtClean="0"/>
              <a:t>17</a:t>
            </a:fld>
            <a:endParaRPr lang="en-IN"/>
          </a:p>
        </p:txBody>
      </p:sp>
      <p:cxnSp>
        <p:nvCxnSpPr>
          <p:cNvPr id="6" name="Straight Connector 5">
            <a:extLst>
              <a:ext uri="{FF2B5EF4-FFF2-40B4-BE49-F238E27FC236}">
                <a16:creationId xmlns:a16="http://schemas.microsoft.com/office/drawing/2014/main" id="{637F124D-CEBA-A8A2-A1E9-4C2431D1C807}"/>
              </a:ext>
            </a:extLst>
          </p:cNvPr>
          <p:cNvCxnSpPr>
            <a:cxnSpLocks/>
          </p:cNvCxnSpPr>
          <p:nvPr/>
        </p:nvCxnSpPr>
        <p:spPr>
          <a:xfrm>
            <a:off x="631790" y="760500"/>
            <a:ext cx="10029511" cy="0"/>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12" name="Picture 11">
            <a:extLst>
              <a:ext uri="{FF2B5EF4-FFF2-40B4-BE49-F238E27FC236}">
                <a16:creationId xmlns:a16="http://schemas.microsoft.com/office/drawing/2014/main" id="{79EE93C0-3F5F-C9D0-C92E-DC5A8F1EE8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1301" y="136525"/>
            <a:ext cx="1383212" cy="1015395"/>
          </a:xfrm>
          <a:prstGeom prst="rect">
            <a:avLst/>
          </a:prstGeom>
        </p:spPr>
      </p:pic>
      <p:sp>
        <p:nvSpPr>
          <p:cNvPr id="17" name="Content Placeholder 4">
            <a:extLst>
              <a:ext uri="{FF2B5EF4-FFF2-40B4-BE49-F238E27FC236}">
                <a16:creationId xmlns:a16="http://schemas.microsoft.com/office/drawing/2014/main" id="{F5384487-B765-9E7E-8233-493BB4337B95}"/>
              </a:ext>
            </a:extLst>
          </p:cNvPr>
          <p:cNvSpPr txBox="1">
            <a:spLocks/>
          </p:cNvSpPr>
          <p:nvPr/>
        </p:nvSpPr>
        <p:spPr>
          <a:xfrm>
            <a:off x="2112233" y="1591791"/>
            <a:ext cx="10241280" cy="45851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b="1">
                <a:latin typeface="Times New Roman" panose="02020603050405020304" pitchFamily="18" charset="0"/>
                <a:cs typeface="Times New Roman" panose="02020603050405020304" pitchFamily="18" charset="0"/>
              </a:rPr>
              <a:t> </a:t>
            </a:r>
          </a:p>
          <a:p>
            <a:pPr marL="0" indent="0">
              <a:buFont typeface="Arial" panose="020B0604020202020204" pitchFamily="34" charset="0"/>
              <a:buNone/>
            </a:pPr>
            <a:endParaRPr lang="en-US" sz="2200" b="1">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2200" b="1">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2200" b="1">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22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07CD9B7-9D93-C40F-084C-15E51B8EA228}"/>
              </a:ext>
            </a:extLst>
          </p:cNvPr>
          <p:cNvPicPr>
            <a:picLocks noChangeAspect="1"/>
          </p:cNvPicPr>
          <p:nvPr/>
        </p:nvPicPr>
        <p:blipFill>
          <a:blip r:embed="rId3"/>
          <a:stretch>
            <a:fillRect/>
          </a:stretch>
        </p:blipFill>
        <p:spPr>
          <a:xfrm>
            <a:off x="481481" y="1591789"/>
            <a:ext cx="5273497" cy="2511770"/>
          </a:xfrm>
          <a:prstGeom prst="rect">
            <a:avLst/>
          </a:prstGeom>
        </p:spPr>
      </p:pic>
      <p:pic>
        <p:nvPicPr>
          <p:cNvPr id="5" name="Picture 4">
            <a:extLst>
              <a:ext uri="{FF2B5EF4-FFF2-40B4-BE49-F238E27FC236}">
                <a16:creationId xmlns:a16="http://schemas.microsoft.com/office/drawing/2014/main" id="{F312F7AF-2A26-E24B-7B96-9150CE4BA412}"/>
              </a:ext>
            </a:extLst>
          </p:cNvPr>
          <p:cNvPicPr>
            <a:picLocks noChangeAspect="1"/>
          </p:cNvPicPr>
          <p:nvPr/>
        </p:nvPicPr>
        <p:blipFill>
          <a:blip r:embed="rId4"/>
          <a:stretch>
            <a:fillRect/>
          </a:stretch>
        </p:blipFill>
        <p:spPr>
          <a:xfrm>
            <a:off x="5976899" y="2223265"/>
            <a:ext cx="5267401" cy="3645724"/>
          </a:xfrm>
          <a:prstGeom prst="rect">
            <a:avLst/>
          </a:prstGeom>
        </p:spPr>
      </p:pic>
    </p:spTree>
    <p:extLst>
      <p:ext uri="{BB962C8B-B14F-4D97-AF65-F5344CB8AC3E}">
        <p14:creationId xmlns:p14="http://schemas.microsoft.com/office/powerpoint/2010/main" val="3866737515"/>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623932-BBA8-8C11-253F-9EC982438111}"/>
              </a:ext>
            </a:extLst>
          </p:cNvPr>
          <p:cNvSpPr>
            <a:spLocks noGrp="1"/>
          </p:cNvSpPr>
          <p:nvPr>
            <p:ph type="title"/>
          </p:nvPr>
        </p:nvSpPr>
        <p:spPr>
          <a:xfrm>
            <a:off x="838200" y="365125"/>
            <a:ext cx="10515600" cy="655955"/>
          </a:xfrm>
        </p:spPr>
        <p:txBody>
          <a:bodyPr>
            <a:normAutofit/>
          </a:bodyPr>
          <a:lstStyle/>
          <a:p>
            <a:pPr algn="ctr"/>
            <a:r>
              <a:rPr lang="en-US" sz="2400" b="1">
                <a:latin typeface="Times New Roman" panose="02020603050405020304" pitchFamily="18" charset="0"/>
                <a:cs typeface="Times New Roman" panose="02020603050405020304" pitchFamily="18" charset="0"/>
              </a:rPr>
              <a:t>SYSTEM</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DESIGN</a:t>
            </a:r>
            <a:endParaRPr lang="en-IN" sz="2400"/>
          </a:p>
        </p:txBody>
      </p:sp>
      <p:sp>
        <p:nvSpPr>
          <p:cNvPr id="8" name="Content Placeholder 7">
            <a:extLst>
              <a:ext uri="{FF2B5EF4-FFF2-40B4-BE49-F238E27FC236}">
                <a16:creationId xmlns:a16="http://schemas.microsoft.com/office/drawing/2014/main" id="{78C8F95E-BD96-DF6A-5823-7D44CE15D7F6}"/>
              </a:ext>
            </a:extLst>
          </p:cNvPr>
          <p:cNvSpPr>
            <a:spLocks noGrp="1"/>
          </p:cNvSpPr>
          <p:nvPr>
            <p:ph idx="1"/>
          </p:nvPr>
        </p:nvSpPr>
        <p:spPr>
          <a:xfrm>
            <a:off x="838200" y="1151920"/>
            <a:ext cx="10515600" cy="5025043"/>
          </a:xfrm>
        </p:spPr>
        <p:txBody>
          <a:bodyPr>
            <a:normAutofit/>
          </a:bodyPr>
          <a:lstStyle/>
          <a:p>
            <a:pPr marL="0" indent="0">
              <a:buNone/>
            </a:pPr>
            <a:r>
              <a:rPr lang="en-US" sz="2200" b="1" dirty="0">
                <a:latin typeface="Times New Roman" panose="02020603050405020304" pitchFamily="18" charset="0"/>
                <a:cs typeface="Times New Roman" panose="02020603050405020304" pitchFamily="18" charset="0"/>
              </a:rPr>
              <a:t> Use Case Diagram:</a:t>
            </a:r>
          </a:p>
          <a:p>
            <a:pPr marL="0" indent="0">
              <a:buNone/>
            </a:pPr>
            <a:endParaRPr lang="en-US" sz="2200" b="1"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endParaRPr lang="en-IN" sz="22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E09AC5F-12F0-6EF5-8B96-01AE85140C5D}"/>
              </a:ext>
            </a:extLst>
          </p:cNvPr>
          <p:cNvSpPr>
            <a:spLocks noGrp="1"/>
          </p:cNvSpPr>
          <p:nvPr>
            <p:ph type="dt" sz="half" idx="10"/>
          </p:nvPr>
        </p:nvSpPr>
        <p:spPr/>
        <p:txBody>
          <a:bodyPr/>
          <a:lstStyle/>
          <a:p>
            <a:fld id="{2E88D254-F59B-434E-A3B4-CA93A111A004}" type="datetime1">
              <a:rPr lang="en-IN" smtClean="0"/>
              <a:t>12-04-2025</a:t>
            </a:fld>
            <a:endParaRPr lang="en-IN"/>
          </a:p>
        </p:txBody>
      </p:sp>
      <p:sp>
        <p:nvSpPr>
          <p:cNvPr id="6" name="Slide Number Placeholder 5">
            <a:extLst>
              <a:ext uri="{FF2B5EF4-FFF2-40B4-BE49-F238E27FC236}">
                <a16:creationId xmlns:a16="http://schemas.microsoft.com/office/drawing/2014/main" id="{69634800-E6E2-C888-F71B-B1288B9A469B}"/>
              </a:ext>
            </a:extLst>
          </p:cNvPr>
          <p:cNvSpPr>
            <a:spLocks noGrp="1"/>
          </p:cNvSpPr>
          <p:nvPr>
            <p:ph type="sldNum" sz="quarter" idx="12"/>
          </p:nvPr>
        </p:nvSpPr>
        <p:spPr/>
        <p:txBody>
          <a:bodyPr/>
          <a:lstStyle/>
          <a:p>
            <a:fld id="{79CD4CE9-F1A3-4728-B74D-DBF6FEAF9982}" type="slidenum">
              <a:rPr lang="en-IN" smtClean="0"/>
              <a:t>18</a:t>
            </a:fld>
            <a:endParaRPr lang="en-IN"/>
          </a:p>
        </p:txBody>
      </p:sp>
      <p:cxnSp>
        <p:nvCxnSpPr>
          <p:cNvPr id="9" name="Straight Connector 8">
            <a:extLst>
              <a:ext uri="{FF2B5EF4-FFF2-40B4-BE49-F238E27FC236}">
                <a16:creationId xmlns:a16="http://schemas.microsoft.com/office/drawing/2014/main" id="{E3564A19-DF6C-EB94-5F50-A1365C95804A}"/>
              </a:ext>
            </a:extLst>
          </p:cNvPr>
          <p:cNvCxnSpPr>
            <a:cxnSpLocks/>
          </p:cNvCxnSpPr>
          <p:nvPr/>
        </p:nvCxnSpPr>
        <p:spPr>
          <a:xfrm>
            <a:off x="838200" y="1021080"/>
            <a:ext cx="10029511" cy="0"/>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10" name="Picture 9">
            <a:extLst>
              <a:ext uri="{FF2B5EF4-FFF2-40B4-BE49-F238E27FC236}">
                <a16:creationId xmlns:a16="http://schemas.microsoft.com/office/drawing/2014/main" id="{E4D52DB1-CCD5-B808-986D-22400B104B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1301" y="136525"/>
            <a:ext cx="1383212" cy="1015395"/>
          </a:xfrm>
          <a:prstGeom prst="rect">
            <a:avLst/>
          </a:prstGeom>
        </p:spPr>
      </p:pic>
      <p:pic>
        <p:nvPicPr>
          <p:cNvPr id="4" name="Picture 3">
            <a:extLst>
              <a:ext uri="{FF2B5EF4-FFF2-40B4-BE49-F238E27FC236}">
                <a16:creationId xmlns:a16="http://schemas.microsoft.com/office/drawing/2014/main" id="{16522684-EAAD-3303-69B1-368120001A25}"/>
              </a:ext>
            </a:extLst>
          </p:cNvPr>
          <p:cNvPicPr>
            <a:picLocks noChangeAspect="1"/>
          </p:cNvPicPr>
          <p:nvPr/>
        </p:nvPicPr>
        <p:blipFill>
          <a:blip r:embed="rId3"/>
          <a:stretch>
            <a:fillRect/>
          </a:stretch>
        </p:blipFill>
        <p:spPr>
          <a:xfrm>
            <a:off x="731520" y="1564641"/>
            <a:ext cx="4765039" cy="4612322"/>
          </a:xfrm>
          <a:prstGeom prst="rect">
            <a:avLst/>
          </a:prstGeom>
          <a:noFill/>
          <a:ln>
            <a:noFill/>
          </a:ln>
        </p:spPr>
      </p:pic>
      <p:sp>
        <p:nvSpPr>
          <p:cNvPr id="3" name="Rectangle 1">
            <a:extLst>
              <a:ext uri="{FF2B5EF4-FFF2-40B4-BE49-F238E27FC236}">
                <a16:creationId xmlns:a16="http://schemas.microsoft.com/office/drawing/2014/main" id="{C0B54694-E441-028A-06C0-ED9933B6306A}"/>
              </a:ext>
            </a:extLst>
          </p:cNvPr>
          <p:cNvSpPr>
            <a:spLocks noChangeArrowheads="1"/>
          </p:cNvSpPr>
          <p:nvPr/>
        </p:nvSpPr>
        <p:spPr bwMode="auto">
          <a:xfrm>
            <a:off x="5166176" y="2413337"/>
            <a:ext cx="688884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lang="en-US" dirty="0">
                <a:latin typeface="Times New Roman" panose="02020603050405020304" pitchFamily="18" charset="0"/>
                <a:cs typeface="Times New Roman" panose="02020603050405020304" pitchFamily="18" charset="0"/>
              </a:rPr>
              <a:t>The use case diagram shows the process of building a face mask detection system. The user starts by collecting image or video data. This data is then preprocessed by cleaning and resizing it. Important features like eyes and mouth are extracted to help the model learn. The user and system work together to train and test the model. Once trained, the model is applied to new data, such as live video, and it predicts whether a person is wearing a mask or not.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636592"/>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E4112-3754-9FD0-9902-21800D146B70}"/>
              </a:ext>
            </a:extLst>
          </p:cNvPr>
          <p:cNvSpPr>
            <a:spLocks noGrp="1"/>
          </p:cNvSpPr>
          <p:nvPr>
            <p:ph type="title"/>
          </p:nvPr>
        </p:nvSpPr>
        <p:spPr>
          <a:xfrm>
            <a:off x="838200" y="136525"/>
            <a:ext cx="10515600" cy="838835"/>
          </a:xfrm>
        </p:spPr>
        <p:txBody>
          <a:bodyPr>
            <a:normAutofit/>
          </a:bodyPr>
          <a:lstStyle/>
          <a:p>
            <a:pPr algn="ctr"/>
            <a:r>
              <a:rPr lang="en-US" sz="2400" b="1">
                <a:latin typeface="Times New Roman" panose="02020603050405020304" pitchFamily="18" charset="0"/>
                <a:cs typeface="Times New Roman" panose="02020603050405020304" pitchFamily="18" charset="0"/>
              </a:rPr>
              <a:t>SYSTEM</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DESIGN</a:t>
            </a:r>
            <a:endParaRPr lang="en-IN" sz="2400"/>
          </a:p>
        </p:txBody>
      </p:sp>
      <p:sp>
        <p:nvSpPr>
          <p:cNvPr id="3" name="Content Placeholder 2">
            <a:extLst>
              <a:ext uri="{FF2B5EF4-FFF2-40B4-BE49-F238E27FC236}">
                <a16:creationId xmlns:a16="http://schemas.microsoft.com/office/drawing/2014/main" id="{B5795CDB-1FDB-AA81-332A-22A0D3B38AD4}"/>
              </a:ext>
            </a:extLst>
          </p:cNvPr>
          <p:cNvSpPr>
            <a:spLocks noGrp="1"/>
          </p:cNvSpPr>
          <p:nvPr>
            <p:ph idx="1"/>
          </p:nvPr>
        </p:nvSpPr>
        <p:spPr>
          <a:xfrm>
            <a:off x="838200" y="1197640"/>
            <a:ext cx="10515600" cy="4979323"/>
          </a:xfrm>
        </p:spPr>
        <p:txBody>
          <a:bodyPr>
            <a:normAutofit/>
          </a:bodyPr>
          <a:lstStyle/>
          <a:p>
            <a:r>
              <a:rPr lang="en-US" sz="2200" b="1" dirty="0">
                <a:latin typeface="Times New Roman" panose="02020603050405020304" pitchFamily="18" charset="0"/>
                <a:cs typeface="Times New Roman" panose="02020603050405020304" pitchFamily="18" charset="0"/>
              </a:rPr>
              <a:t>Class Diagram:</a:t>
            </a:r>
          </a:p>
          <a:p>
            <a:pPr marL="0" indent="0">
              <a:buNone/>
            </a:pPr>
            <a:endParaRPr lang="en-US" sz="22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AB8CFCF-8107-684E-9BD2-E1BFE14796C2}"/>
              </a:ext>
            </a:extLst>
          </p:cNvPr>
          <p:cNvSpPr>
            <a:spLocks noGrp="1"/>
          </p:cNvSpPr>
          <p:nvPr>
            <p:ph type="dt" sz="half" idx="10"/>
          </p:nvPr>
        </p:nvSpPr>
        <p:spPr/>
        <p:txBody>
          <a:bodyPr/>
          <a:lstStyle/>
          <a:p>
            <a:fld id="{64013B94-742D-48D3-8FAB-AFA19A2F562D}" type="datetime1">
              <a:rPr lang="en-IN" smtClean="0"/>
              <a:t>12-04-2025</a:t>
            </a:fld>
            <a:endParaRPr lang="en-IN"/>
          </a:p>
        </p:txBody>
      </p:sp>
      <p:sp>
        <p:nvSpPr>
          <p:cNvPr id="5" name="Slide Number Placeholder 4">
            <a:extLst>
              <a:ext uri="{FF2B5EF4-FFF2-40B4-BE49-F238E27FC236}">
                <a16:creationId xmlns:a16="http://schemas.microsoft.com/office/drawing/2014/main" id="{C8045294-45AA-16E0-A106-886966AD35AD}"/>
              </a:ext>
            </a:extLst>
          </p:cNvPr>
          <p:cNvSpPr>
            <a:spLocks noGrp="1"/>
          </p:cNvSpPr>
          <p:nvPr>
            <p:ph type="sldNum" sz="quarter" idx="12"/>
          </p:nvPr>
        </p:nvSpPr>
        <p:spPr/>
        <p:txBody>
          <a:bodyPr/>
          <a:lstStyle/>
          <a:p>
            <a:fld id="{79CD4CE9-F1A3-4728-B74D-DBF6FEAF9982}" type="slidenum">
              <a:rPr lang="en-IN" smtClean="0"/>
              <a:t>19</a:t>
            </a:fld>
            <a:endParaRPr lang="en-IN"/>
          </a:p>
        </p:txBody>
      </p:sp>
      <p:cxnSp>
        <p:nvCxnSpPr>
          <p:cNvPr id="6" name="Straight Connector 5">
            <a:extLst>
              <a:ext uri="{FF2B5EF4-FFF2-40B4-BE49-F238E27FC236}">
                <a16:creationId xmlns:a16="http://schemas.microsoft.com/office/drawing/2014/main" id="{07638EF9-ED3C-AC2C-0148-C10F2B907D1B}"/>
              </a:ext>
            </a:extLst>
          </p:cNvPr>
          <p:cNvCxnSpPr>
            <a:cxnSpLocks/>
          </p:cNvCxnSpPr>
          <p:nvPr/>
        </p:nvCxnSpPr>
        <p:spPr>
          <a:xfrm>
            <a:off x="838200" y="1021080"/>
            <a:ext cx="10029511" cy="0"/>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7C2704EF-5F0C-7896-E93F-C539318D2D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1301" y="136525"/>
            <a:ext cx="1383212" cy="1015395"/>
          </a:xfrm>
          <a:prstGeom prst="rect">
            <a:avLst/>
          </a:prstGeom>
        </p:spPr>
      </p:pic>
      <p:pic>
        <p:nvPicPr>
          <p:cNvPr id="8" name="Picture 7">
            <a:extLst>
              <a:ext uri="{FF2B5EF4-FFF2-40B4-BE49-F238E27FC236}">
                <a16:creationId xmlns:a16="http://schemas.microsoft.com/office/drawing/2014/main" id="{5A2687F3-BE0F-CAF1-062F-9BA6E4931AC7}"/>
              </a:ext>
            </a:extLst>
          </p:cNvPr>
          <p:cNvPicPr>
            <a:picLocks noChangeAspect="1"/>
          </p:cNvPicPr>
          <p:nvPr/>
        </p:nvPicPr>
        <p:blipFill>
          <a:blip r:embed="rId4"/>
          <a:stretch>
            <a:fillRect/>
          </a:stretch>
        </p:blipFill>
        <p:spPr>
          <a:xfrm>
            <a:off x="497840" y="1837245"/>
            <a:ext cx="5963920" cy="4516272"/>
          </a:xfrm>
          <a:prstGeom prst="rect">
            <a:avLst/>
          </a:prstGeom>
          <a:noFill/>
          <a:ln>
            <a:noFill/>
          </a:ln>
        </p:spPr>
      </p:pic>
      <p:sp>
        <p:nvSpPr>
          <p:cNvPr id="10" name="TextBox 9">
            <a:extLst>
              <a:ext uri="{FF2B5EF4-FFF2-40B4-BE49-F238E27FC236}">
                <a16:creationId xmlns:a16="http://schemas.microsoft.com/office/drawing/2014/main" id="{4880BD00-3A61-D803-EC58-2E30CF871E7D}"/>
              </a:ext>
            </a:extLst>
          </p:cNvPr>
          <p:cNvSpPr txBox="1"/>
          <p:nvPr/>
        </p:nvSpPr>
        <p:spPr>
          <a:xfrm>
            <a:off x="5859780" y="1920353"/>
            <a:ext cx="6096000" cy="2956387"/>
          </a:xfrm>
          <a:prstGeom prst="rect">
            <a:avLst/>
          </a:prstGeom>
          <a:noFill/>
        </p:spPr>
        <p:txBody>
          <a:bodyPr wrap="square">
            <a:spAutoFit/>
          </a:bodyPr>
          <a:lstStyle/>
          <a:p>
            <a:pPr algn="just">
              <a:lnSpc>
                <a:spcPct val="150000"/>
              </a:lnSpc>
            </a:pPr>
            <a:r>
              <a:rPr lang="en-US" sz="180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The class diagram is the main building block of object-oriented modeling. It is used for general conceptual modeling of the systematic of the application, and for detailed modeling translating the models into programming code. Class diagrams can also be used for data modeling.[1] The classes in a class diagram represent both the main elements, interactions in the application, and the classes to be programmed.</a:t>
            </a:r>
            <a:endParaRPr lang="en-IN" sz="11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41482792"/>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BED31-2804-4703-E4D2-C2E7C2C67347}"/>
              </a:ext>
            </a:extLst>
          </p:cNvPr>
          <p:cNvSpPr>
            <a:spLocks noGrp="1"/>
          </p:cNvSpPr>
          <p:nvPr>
            <p:ph type="title"/>
          </p:nvPr>
        </p:nvSpPr>
        <p:spPr>
          <a:xfrm>
            <a:off x="838200" y="365125"/>
            <a:ext cx="10515600" cy="549275"/>
          </a:xfrm>
        </p:spPr>
        <p:txBody>
          <a:bodyPr>
            <a:normAutofit/>
          </a:bodyPr>
          <a:lstStyle/>
          <a:p>
            <a:pPr algn="ctr"/>
            <a:r>
              <a:rPr lang="en-US" sz="2400" b="1">
                <a:latin typeface="Times New Roman" panose="02020603050405020304" pitchFamily="18" charset="0"/>
                <a:cs typeface="Times New Roman" panose="02020603050405020304" pitchFamily="18" charset="0"/>
              </a:rPr>
              <a:t>SYSTEM</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DESIGN</a:t>
            </a:r>
            <a:endParaRPr lang="en-IN" sz="2400"/>
          </a:p>
        </p:txBody>
      </p:sp>
      <p:sp>
        <p:nvSpPr>
          <p:cNvPr id="3" name="Content Placeholder 2">
            <a:extLst>
              <a:ext uri="{FF2B5EF4-FFF2-40B4-BE49-F238E27FC236}">
                <a16:creationId xmlns:a16="http://schemas.microsoft.com/office/drawing/2014/main" id="{26CD3D8E-D17A-4348-4737-5949A06A27E3}"/>
              </a:ext>
            </a:extLst>
          </p:cNvPr>
          <p:cNvSpPr>
            <a:spLocks noGrp="1"/>
          </p:cNvSpPr>
          <p:nvPr>
            <p:ph idx="1"/>
          </p:nvPr>
        </p:nvSpPr>
        <p:spPr>
          <a:xfrm>
            <a:off x="838200" y="1258600"/>
            <a:ext cx="10515600" cy="4918363"/>
          </a:xfrm>
        </p:spPr>
        <p:txBody>
          <a:bodyPr>
            <a:normAutofit/>
          </a:bodyPr>
          <a:lstStyle/>
          <a:p>
            <a:pPr marL="0" indent="0">
              <a:buNone/>
            </a:pPr>
            <a:r>
              <a:rPr lang="en-US" sz="2200" b="1" dirty="0">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id="{7D7A4155-6610-0722-1C84-080BC8964DDC}"/>
              </a:ext>
            </a:extLst>
          </p:cNvPr>
          <p:cNvSpPr>
            <a:spLocks noGrp="1"/>
          </p:cNvSpPr>
          <p:nvPr>
            <p:ph type="dt" sz="half" idx="10"/>
          </p:nvPr>
        </p:nvSpPr>
        <p:spPr/>
        <p:txBody>
          <a:bodyPr/>
          <a:lstStyle/>
          <a:p>
            <a:fld id="{64013B94-742D-48D3-8FAB-AFA19A2F562D}" type="datetime1">
              <a:rPr lang="en-IN" smtClean="0"/>
              <a:t>12-04-2025</a:t>
            </a:fld>
            <a:endParaRPr lang="en-IN"/>
          </a:p>
        </p:txBody>
      </p:sp>
      <p:sp>
        <p:nvSpPr>
          <p:cNvPr id="5" name="Slide Number Placeholder 4">
            <a:extLst>
              <a:ext uri="{FF2B5EF4-FFF2-40B4-BE49-F238E27FC236}">
                <a16:creationId xmlns:a16="http://schemas.microsoft.com/office/drawing/2014/main" id="{C7A1BCED-B8CC-1910-D386-9AB061F84B87}"/>
              </a:ext>
            </a:extLst>
          </p:cNvPr>
          <p:cNvSpPr>
            <a:spLocks noGrp="1"/>
          </p:cNvSpPr>
          <p:nvPr>
            <p:ph type="sldNum" sz="quarter" idx="12"/>
          </p:nvPr>
        </p:nvSpPr>
        <p:spPr/>
        <p:txBody>
          <a:bodyPr/>
          <a:lstStyle/>
          <a:p>
            <a:fld id="{79CD4CE9-F1A3-4728-B74D-DBF6FEAF9982}" type="slidenum">
              <a:rPr lang="en-IN" smtClean="0"/>
              <a:t>20</a:t>
            </a:fld>
            <a:endParaRPr lang="en-IN"/>
          </a:p>
        </p:txBody>
      </p:sp>
      <p:cxnSp>
        <p:nvCxnSpPr>
          <p:cNvPr id="6" name="Straight Connector 5">
            <a:extLst>
              <a:ext uri="{FF2B5EF4-FFF2-40B4-BE49-F238E27FC236}">
                <a16:creationId xmlns:a16="http://schemas.microsoft.com/office/drawing/2014/main" id="{ED60DE09-0A21-F939-C36C-46960250F014}"/>
              </a:ext>
            </a:extLst>
          </p:cNvPr>
          <p:cNvCxnSpPr>
            <a:cxnSpLocks/>
          </p:cNvCxnSpPr>
          <p:nvPr/>
        </p:nvCxnSpPr>
        <p:spPr>
          <a:xfrm>
            <a:off x="838200" y="1021080"/>
            <a:ext cx="10029511" cy="0"/>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DA9CDA2C-A53D-8DA6-4E0B-67CBA2C6F1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1301" y="136525"/>
            <a:ext cx="1383212" cy="1015395"/>
          </a:xfrm>
          <a:prstGeom prst="rect">
            <a:avLst/>
          </a:prstGeom>
        </p:spPr>
      </p:pic>
      <p:pic>
        <p:nvPicPr>
          <p:cNvPr id="10" name="Picture 9">
            <a:extLst>
              <a:ext uri="{FF2B5EF4-FFF2-40B4-BE49-F238E27FC236}">
                <a16:creationId xmlns:a16="http://schemas.microsoft.com/office/drawing/2014/main" id="{313F45B4-D568-D017-181F-35705AB71A6C}"/>
              </a:ext>
            </a:extLst>
          </p:cNvPr>
          <p:cNvPicPr>
            <a:picLocks noChangeAspect="1"/>
          </p:cNvPicPr>
          <p:nvPr/>
        </p:nvPicPr>
        <p:blipFill>
          <a:blip r:embed="rId3"/>
          <a:stretch>
            <a:fillRect/>
          </a:stretch>
        </p:blipFill>
        <p:spPr>
          <a:xfrm>
            <a:off x="497841" y="1200468"/>
            <a:ext cx="6156960" cy="5088572"/>
          </a:xfrm>
          <a:prstGeom prst="rect">
            <a:avLst/>
          </a:prstGeom>
          <a:noFill/>
          <a:ln>
            <a:noFill/>
          </a:ln>
        </p:spPr>
      </p:pic>
      <p:sp>
        <p:nvSpPr>
          <p:cNvPr id="9" name="TextBox 8">
            <a:extLst>
              <a:ext uri="{FF2B5EF4-FFF2-40B4-BE49-F238E27FC236}">
                <a16:creationId xmlns:a16="http://schemas.microsoft.com/office/drawing/2014/main" id="{03AE78DC-1265-8C72-D23C-D942C48ADDD2}"/>
              </a:ext>
            </a:extLst>
          </p:cNvPr>
          <p:cNvSpPr txBox="1"/>
          <p:nvPr/>
        </p:nvSpPr>
        <p:spPr>
          <a:xfrm>
            <a:off x="4881714" y="2551837"/>
            <a:ext cx="7162799" cy="1754326"/>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activity diagram shows the workflow of a face mask detection system. It starts with collecting image or video data, followed by preprocessing and feature extraction. The data is split into training and testing sets. A machine learning algorithm is applied to train the model, and its accuracy is evaluated. Finally, the system predicts whether a person is with or without a mask.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1024928"/>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287E1-CEAA-405E-A22D-192543A2F362}"/>
              </a:ext>
            </a:extLst>
          </p:cNvPr>
          <p:cNvSpPr>
            <a:spLocks noGrp="1"/>
          </p:cNvSpPr>
          <p:nvPr>
            <p:ph type="title"/>
          </p:nvPr>
        </p:nvSpPr>
        <p:spPr>
          <a:xfrm>
            <a:off x="838200" y="365125"/>
            <a:ext cx="10515600" cy="625475"/>
          </a:xfrm>
        </p:spPr>
        <p:txBody>
          <a:bodyPr>
            <a:normAutofit/>
          </a:bodyPr>
          <a:lstStyle/>
          <a:p>
            <a:pPr algn="ctr"/>
            <a:r>
              <a:rPr lang="en-US" sz="2400" b="1">
                <a:latin typeface="Times New Roman" panose="02020603050405020304" pitchFamily="18" charset="0"/>
                <a:cs typeface="Times New Roman" panose="02020603050405020304" pitchFamily="18" charset="0"/>
              </a:rPr>
              <a:t>SYSTEM</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DESIGN</a:t>
            </a:r>
            <a:endParaRPr lang="en-IN" sz="2400"/>
          </a:p>
        </p:txBody>
      </p:sp>
      <p:sp>
        <p:nvSpPr>
          <p:cNvPr id="3" name="Content Placeholder 2">
            <a:extLst>
              <a:ext uri="{FF2B5EF4-FFF2-40B4-BE49-F238E27FC236}">
                <a16:creationId xmlns:a16="http://schemas.microsoft.com/office/drawing/2014/main" id="{D2DCC2E8-9D22-BAA9-881E-DBF3B261EE35}"/>
              </a:ext>
            </a:extLst>
          </p:cNvPr>
          <p:cNvSpPr>
            <a:spLocks noGrp="1"/>
          </p:cNvSpPr>
          <p:nvPr>
            <p:ph idx="1"/>
          </p:nvPr>
        </p:nvSpPr>
        <p:spPr>
          <a:xfrm>
            <a:off x="838200" y="1182400"/>
            <a:ext cx="10515600" cy="4994563"/>
          </a:xfrm>
        </p:spPr>
        <p:txBody>
          <a:bodyPr>
            <a:normAutofit/>
          </a:bodyPr>
          <a:lstStyle/>
          <a:p>
            <a:pPr marL="0" indent="0">
              <a:buNone/>
            </a:pPr>
            <a:r>
              <a:rPr lang="en-US" sz="2200" b="1"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endParaRPr lang="en-IN" sz="22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82E23EA-6E7F-4253-738A-E29623A70FF0}"/>
              </a:ext>
            </a:extLst>
          </p:cNvPr>
          <p:cNvSpPr>
            <a:spLocks noGrp="1"/>
          </p:cNvSpPr>
          <p:nvPr>
            <p:ph type="dt" sz="half" idx="10"/>
          </p:nvPr>
        </p:nvSpPr>
        <p:spPr/>
        <p:txBody>
          <a:bodyPr/>
          <a:lstStyle/>
          <a:p>
            <a:fld id="{64013B94-742D-48D3-8FAB-AFA19A2F562D}" type="datetime1">
              <a:rPr lang="en-IN" smtClean="0"/>
              <a:t>12-04-2025</a:t>
            </a:fld>
            <a:endParaRPr lang="en-IN"/>
          </a:p>
        </p:txBody>
      </p:sp>
      <p:sp>
        <p:nvSpPr>
          <p:cNvPr id="5" name="Slide Number Placeholder 4">
            <a:extLst>
              <a:ext uri="{FF2B5EF4-FFF2-40B4-BE49-F238E27FC236}">
                <a16:creationId xmlns:a16="http://schemas.microsoft.com/office/drawing/2014/main" id="{3DA0F0A7-EC88-E578-CC8C-7B192EF3C31C}"/>
              </a:ext>
            </a:extLst>
          </p:cNvPr>
          <p:cNvSpPr>
            <a:spLocks noGrp="1"/>
          </p:cNvSpPr>
          <p:nvPr>
            <p:ph type="sldNum" sz="quarter" idx="12"/>
          </p:nvPr>
        </p:nvSpPr>
        <p:spPr/>
        <p:txBody>
          <a:bodyPr/>
          <a:lstStyle/>
          <a:p>
            <a:fld id="{79CD4CE9-F1A3-4728-B74D-DBF6FEAF9982}" type="slidenum">
              <a:rPr lang="en-IN" smtClean="0"/>
              <a:t>21</a:t>
            </a:fld>
            <a:endParaRPr lang="en-IN"/>
          </a:p>
        </p:txBody>
      </p:sp>
      <p:cxnSp>
        <p:nvCxnSpPr>
          <p:cNvPr id="6" name="Straight Connector 5">
            <a:extLst>
              <a:ext uri="{FF2B5EF4-FFF2-40B4-BE49-F238E27FC236}">
                <a16:creationId xmlns:a16="http://schemas.microsoft.com/office/drawing/2014/main" id="{B3688D32-6355-4315-D278-B98040EAA70E}"/>
              </a:ext>
            </a:extLst>
          </p:cNvPr>
          <p:cNvCxnSpPr>
            <a:cxnSpLocks/>
          </p:cNvCxnSpPr>
          <p:nvPr/>
        </p:nvCxnSpPr>
        <p:spPr>
          <a:xfrm>
            <a:off x="838200" y="1021080"/>
            <a:ext cx="10029511" cy="0"/>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022CC0DD-2EA7-F5D8-D8F0-646E796CCF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1301" y="136525"/>
            <a:ext cx="1383212" cy="1015395"/>
          </a:xfrm>
          <a:prstGeom prst="rect">
            <a:avLst/>
          </a:prstGeom>
        </p:spPr>
      </p:pic>
      <p:pic>
        <p:nvPicPr>
          <p:cNvPr id="8" name="Picture 7">
            <a:extLst>
              <a:ext uri="{FF2B5EF4-FFF2-40B4-BE49-F238E27FC236}">
                <a16:creationId xmlns:a16="http://schemas.microsoft.com/office/drawing/2014/main" id="{536022BC-B084-19FE-9B9D-8730178090E7}"/>
              </a:ext>
            </a:extLst>
          </p:cNvPr>
          <p:cNvPicPr>
            <a:picLocks noChangeAspect="1"/>
          </p:cNvPicPr>
          <p:nvPr/>
        </p:nvPicPr>
        <p:blipFill>
          <a:blip r:embed="rId3"/>
          <a:stretch>
            <a:fillRect/>
          </a:stretch>
        </p:blipFill>
        <p:spPr>
          <a:xfrm>
            <a:off x="838200" y="1919827"/>
            <a:ext cx="5267401" cy="4377307"/>
          </a:xfrm>
          <a:prstGeom prst="rect">
            <a:avLst/>
          </a:prstGeom>
        </p:spPr>
      </p:pic>
      <p:sp>
        <p:nvSpPr>
          <p:cNvPr id="11" name="TextBox 10">
            <a:extLst>
              <a:ext uri="{FF2B5EF4-FFF2-40B4-BE49-F238E27FC236}">
                <a16:creationId xmlns:a16="http://schemas.microsoft.com/office/drawing/2014/main" id="{11BA4195-AAC2-84DA-3986-CBE2DE6F7059}"/>
              </a:ext>
            </a:extLst>
          </p:cNvPr>
          <p:cNvSpPr txBox="1"/>
          <p:nvPr/>
        </p:nvSpPr>
        <p:spPr>
          <a:xfrm>
            <a:off x="1081549" y="1386348"/>
            <a:ext cx="8062452"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Sequence Diagram:</a:t>
            </a:r>
            <a:endParaRPr lang="en-IN" dirty="0"/>
          </a:p>
        </p:txBody>
      </p:sp>
      <p:sp>
        <p:nvSpPr>
          <p:cNvPr id="9" name="Rectangle 1">
            <a:extLst>
              <a:ext uri="{FF2B5EF4-FFF2-40B4-BE49-F238E27FC236}">
                <a16:creationId xmlns:a16="http://schemas.microsoft.com/office/drawing/2014/main" id="{6B825C74-4794-F726-B98C-1970E79F0B4C}"/>
              </a:ext>
            </a:extLst>
          </p:cNvPr>
          <p:cNvSpPr>
            <a:spLocks noChangeArrowheads="1"/>
          </p:cNvSpPr>
          <p:nvPr/>
        </p:nvSpPr>
        <p:spPr bwMode="auto">
          <a:xfrm>
            <a:off x="4965540" y="1996350"/>
            <a:ext cx="674804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user provides data (images/videos).</a:t>
            </a:r>
          </a:p>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system processes the input data </a:t>
            </a:r>
          </a:p>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Key facial features are extracted.</a:t>
            </a:r>
          </a:p>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Algorithm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system uses a model (e.g., CNN or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MobileNet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Find the Accuracy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system communicates with the API to evaluate model performance.</a:t>
            </a:r>
          </a:p>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system asks the API to predict mask </a:t>
            </a: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(Video/Image)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user inputs real-time video or an image.</a:t>
            </a:r>
          </a:p>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system displays whether the face is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mask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without mask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29686186"/>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28DED9-A820-4958-614F-95A4BB0C93F5}"/>
              </a:ext>
            </a:extLst>
          </p:cNvPr>
          <p:cNvSpPr>
            <a:spLocks noGrp="1"/>
          </p:cNvSpPr>
          <p:nvPr>
            <p:ph type="dt" sz="half" idx="10"/>
          </p:nvPr>
        </p:nvSpPr>
        <p:spPr/>
        <p:txBody>
          <a:bodyPr/>
          <a:lstStyle/>
          <a:p>
            <a:fld id="{15943351-109D-42C9-8BD6-281C6608D771}" type="datetime1">
              <a:rPr lang="en-IN" smtClean="0"/>
              <a:t>12-04-2025</a:t>
            </a:fld>
            <a:endParaRPr lang="en-IN"/>
          </a:p>
        </p:txBody>
      </p:sp>
      <p:sp>
        <p:nvSpPr>
          <p:cNvPr id="3" name="Slide Number Placeholder 2">
            <a:extLst>
              <a:ext uri="{FF2B5EF4-FFF2-40B4-BE49-F238E27FC236}">
                <a16:creationId xmlns:a16="http://schemas.microsoft.com/office/drawing/2014/main" id="{28E36B41-314C-9CD4-A239-253EAD01056C}"/>
              </a:ext>
            </a:extLst>
          </p:cNvPr>
          <p:cNvSpPr>
            <a:spLocks noGrp="1"/>
          </p:cNvSpPr>
          <p:nvPr>
            <p:ph type="sldNum" sz="quarter" idx="12"/>
          </p:nvPr>
        </p:nvSpPr>
        <p:spPr/>
        <p:txBody>
          <a:bodyPr/>
          <a:lstStyle/>
          <a:p>
            <a:fld id="{79CD4CE9-F1A3-4728-B74D-DBF6FEAF9982}" type="slidenum">
              <a:rPr lang="en-IN" smtClean="0"/>
              <a:t>22</a:t>
            </a:fld>
            <a:endParaRPr lang="en-IN"/>
          </a:p>
        </p:txBody>
      </p:sp>
      <p:cxnSp>
        <p:nvCxnSpPr>
          <p:cNvPr id="4" name="Straight Connector 3">
            <a:extLst>
              <a:ext uri="{FF2B5EF4-FFF2-40B4-BE49-F238E27FC236}">
                <a16:creationId xmlns:a16="http://schemas.microsoft.com/office/drawing/2014/main" id="{0223441F-C9C8-F6FA-F8C1-E998D7D0578C}"/>
              </a:ext>
            </a:extLst>
          </p:cNvPr>
          <p:cNvCxnSpPr/>
          <p:nvPr/>
        </p:nvCxnSpPr>
        <p:spPr>
          <a:xfrm flipV="1">
            <a:off x="838200" y="73877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FA296DD8-8FEE-D942-F3A7-3DDCD3317894}"/>
              </a:ext>
            </a:extLst>
          </p:cNvPr>
          <p:cNvSpPr txBox="1"/>
          <p:nvPr/>
        </p:nvSpPr>
        <p:spPr>
          <a:xfrm>
            <a:off x="4968240" y="0"/>
            <a:ext cx="2255520" cy="579967"/>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CONCLUSION</a:t>
            </a:r>
          </a:p>
        </p:txBody>
      </p:sp>
      <p:sp>
        <p:nvSpPr>
          <p:cNvPr id="8" name="TextBox 7">
            <a:extLst>
              <a:ext uri="{FF2B5EF4-FFF2-40B4-BE49-F238E27FC236}">
                <a16:creationId xmlns:a16="http://schemas.microsoft.com/office/drawing/2014/main" id="{A697EF50-44C7-EF4E-41CC-B51794CFAC80}"/>
              </a:ext>
            </a:extLst>
          </p:cNvPr>
          <p:cNvSpPr txBox="1"/>
          <p:nvPr/>
        </p:nvSpPr>
        <p:spPr>
          <a:xfrm>
            <a:off x="838200" y="1209042"/>
            <a:ext cx="10703560" cy="2031325"/>
          </a:xfrm>
          <a:prstGeom prst="rect">
            <a:avLst/>
          </a:prstGeom>
          <a:noFill/>
        </p:spPr>
        <p:txBody>
          <a:bodyPr wrap="square">
            <a:spAutoFit/>
          </a:bodyPr>
          <a:lstStyle/>
          <a:p>
            <a:pPr algn="just">
              <a:buNone/>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The proposed system successfully integrates Haar Cascade Classifier for real-time face detection and CNN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MobileNet</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for efficient classification of face mask and shield usage. By leveraging deep learning, the system achieves high accuracy and speed, making it suitable for deployment in real-world environments such as public places, offices, schools, and hospitals.</a:t>
            </a:r>
            <a:r>
              <a:rPr lang="en-IN" dirty="0">
                <a:latin typeface="Calibri" panose="020F0502020204030204" pitchFamily="34" charset="0"/>
                <a:ea typeface="DengXian" panose="020B0503020204020204" pitchFamily="2" charset="-122"/>
                <a:cs typeface="Times New Roman" panose="02020603050405020304" pitchFamily="18" charset="0"/>
              </a:rPr>
              <a:t> </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Unlike traditional machine learning methods, this system can accurately differentiate between individuals wearing face masks, face shields, both, or none. The real-time capability, automatic feature extraction, and flexibility make the system a valuable tool in promoting public health and safety by enforcing PPE compliance.</a:t>
            </a: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p:txBody>
      </p:sp>
      <p:pic>
        <p:nvPicPr>
          <p:cNvPr id="9" name="Picture 8">
            <a:extLst>
              <a:ext uri="{FF2B5EF4-FFF2-40B4-BE49-F238E27FC236}">
                <a16:creationId xmlns:a16="http://schemas.microsoft.com/office/drawing/2014/main" id="{851E863D-83A3-FA25-5B22-6EF5E7B313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8789" y="0"/>
            <a:ext cx="1383212" cy="1015395"/>
          </a:xfrm>
          <a:prstGeom prst="rect">
            <a:avLst/>
          </a:prstGeom>
        </p:spPr>
      </p:pic>
    </p:spTree>
    <p:extLst>
      <p:ext uri="{BB962C8B-B14F-4D97-AF65-F5344CB8AC3E}">
        <p14:creationId xmlns:p14="http://schemas.microsoft.com/office/powerpoint/2010/main" val="685565927"/>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AC938F-A50D-9DBE-0C1C-51011A6770E0}"/>
              </a:ext>
            </a:extLst>
          </p:cNvPr>
          <p:cNvSpPr>
            <a:spLocks noGrp="1"/>
          </p:cNvSpPr>
          <p:nvPr>
            <p:ph type="dt" sz="half" idx="10"/>
          </p:nvPr>
        </p:nvSpPr>
        <p:spPr/>
        <p:txBody>
          <a:bodyPr/>
          <a:lstStyle/>
          <a:p>
            <a:fld id="{15943351-109D-42C9-8BD6-281C6608D771}" type="datetime1">
              <a:rPr lang="en-IN" smtClean="0"/>
              <a:t>12-04-2025</a:t>
            </a:fld>
            <a:endParaRPr lang="en-IN"/>
          </a:p>
        </p:txBody>
      </p:sp>
      <p:sp>
        <p:nvSpPr>
          <p:cNvPr id="3" name="Slide Number Placeholder 2">
            <a:extLst>
              <a:ext uri="{FF2B5EF4-FFF2-40B4-BE49-F238E27FC236}">
                <a16:creationId xmlns:a16="http://schemas.microsoft.com/office/drawing/2014/main" id="{AF6CE5A9-C56C-5291-0425-959D4934FFCF}"/>
              </a:ext>
            </a:extLst>
          </p:cNvPr>
          <p:cNvSpPr>
            <a:spLocks noGrp="1"/>
          </p:cNvSpPr>
          <p:nvPr>
            <p:ph type="sldNum" sz="quarter" idx="12"/>
          </p:nvPr>
        </p:nvSpPr>
        <p:spPr/>
        <p:txBody>
          <a:bodyPr/>
          <a:lstStyle/>
          <a:p>
            <a:fld id="{79CD4CE9-F1A3-4728-B74D-DBF6FEAF9982}" type="slidenum">
              <a:rPr lang="en-IN" smtClean="0"/>
              <a:t>23</a:t>
            </a:fld>
            <a:endParaRPr lang="en-IN"/>
          </a:p>
        </p:txBody>
      </p:sp>
      <p:cxnSp>
        <p:nvCxnSpPr>
          <p:cNvPr id="4" name="Straight Connector 3">
            <a:extLst>
              <a:ext uri="{FF2B5EF4-FFF2-40B4-BE49-F238E27FC236}">
                <a16:creationId xmlns:a16="http://schemas.microsoft.com/office/drawing/2014/main" id="{18A5D7EA-30FD-FCA9-DE91-5779AE0CB6C8}"/>
              </a:ext>
            </a:extLst>
          </p:cNvPr>
          <p:cNvCxnSpPr>
            <a:cxnSpLocks/>
          </p:cNvCxnSpPr>
          <p:nvPr/>
        </p:nvCxnSpPr>
        <p:spPr>
          <a:xfrm>
            <a:off x="497711" y="738777"/>
            <a:ext cx="10405641" cy="0"/>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1CF77CB1-EA75-4D2A-0A29-4803097D88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8789" y="0"/>
            <a:ext cx="1383212" cy="1015395"/>
          </a:xfrm>
          <a:prstGeom prst="rect">
            <a:avLst/>
          </a:prstGeom>
        </p:spPr>
      </p:pic>
      <p:sp>
        <p:nvSpPr>
          <p:cNvPr id="9" name="TextBox 8">
            <a:extLst>
              <a:ext uri="{FF2B5EF4-FFF2-40B4-BE49-F238E27FC236}">
                <a16:creationId xmlns:a16="http://schemas.microsoft.com/office/drawing/2014/main" id="{4E2E73BF-F925-7F64-C24B-EC13260B1794}"/>
              </a:ext>
            </a:extLst>
          </p:cNvPr>
          <p:cNvSpPr txBox="1"/>
          <p:nvPr/>
        </p:nvSpPr>
        <p:spPr>
          <a:xfrm>
            <a:off x="706055" y="152220"/>
            <a:ext cx="10311077" cy="461665"/>
          </a:xfrm>
          <a:prstGeom prst="rect">
            <a:avLst/>
          </a:prstGeom>
          <a:noFill/>
        </p:spPr>
        <p:txBody>
          <a:bodyPr wrap="square">
            <a:spAutoFit/>
          </a:bodyPr>
          <a:lstStyle/>
          <a:p>
            <a:pPr algn="ctr"/>
            <a:r>
              <a:rPr lang="en-IN" sz="2400" b="1" dirty="0">
                <a:effectLst/>
                <a:latin typeface="Times New Roman" panose="02020603050405020304" pitchFamily="18" charset="0"/>
                <a:ea typeface="DengXian" panose="020B0503020204020204" pitchFamily="2" charset="-122"/>
                <a:cs typeface="Times New Roman" panose="02020603050405020304" pitchFamily="18" charset="0"/>
              </a:rPr>
              <a:t>RESULT</a:t>
            </a:r>
            <a:endParaRPr lang="en-IN" sz="2400" b="1" dirty="0"/>
          </a:p>
        </p:txBody>
      </p:sp>
      <p:pic>
        <p:nvPicPr>
          <p:cNvPr id="11" name="Picture 10" descr="A person wearing a face shield and a face mask&#10;&#10;AI-generated content may be incorrect.">
            <a:extLst>
              <a:ext uri="{FF2B5EF4-FFF2-40B4-BE49-F238E27FC236}">
                <a16:creationId xmlns:a16="http://schemas.microsoft.com/office/drawing/2014/main" id="{4421694C-0BF7-3BB5-AA41-95A254DD58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6364" y="1200061"/>
            <a:ext cx="8808334" cy="4679350"/>
          </a:xfrm>
          <a:prstGeom prst="rect">
            <a:avLst/>
          </a:prstGeom>
        </p:spPr>
      </p:pic>
      <p:sp>
        <p:nvSpPr>
          <p:cNvPr id="13" name="TextBox 12">
            <a:extLst>
              <a:ext uri="{FF2B5EF4-FFF2-40B4-BE49-F238E27FC236}">
                <a16:creationId xmlns:a16="http://schemas.microsoft.com/office/drawing/2014/main" id="{0AE1EF31-C9C1-A72C-A5D9-F3165ABEA978}"/>
              </a:ext>
            </a:extLst>
          </p:cNvPr>
          <p:cNvSpPr txBox="1"/>
          <p:nvPr/>
        </p:nvSpPr>
        <p:spPr>
          <a:xfrm>
            <a:off x="2537750" y="5656215"/>
            <a:ext cx="6094070" cy="369332"/>
          </a:xfrm>
          <a:prstGeom prst="rect">
            <a:avLst/>
          </a:prstGeom>
          <a:noFill/>
        </p:spPr>
        <p:txBody>
          <a:bodyPr wrap="square">
            <a:spAutoFit/>
          </a:bodyPr>
          <a:lstStyle/>
          <a:p>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with Mask</a:t>
            </a:r>
            <a:endParaRPr lang="en-IN" dirty="0"/>
          </a:p>
        </p:txBody>
      </p:sp>
    </p:spTree>
    <p:extLst>
      <p:ext uri="{BB962C8B-B14F-4D97-AF65-F5344CB8AC3E}">
        <p14:creationId xmlns:p14="http://schemas.microsoft.com/office/powerpoint/2010/main" val="3801677811"/>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B7CA74-82DA-360A-F950-FA9695BEA980}"/>
              </a:ext>
            </a:extLst>
          </p:cNvPr>
          <p:cNvSpPr>
            <a:spLocks noGrp="1"/>
          </p:cNvSpPr>
          <p:nvPr>
            <p:ph type="dt" sz="half" idx="10"/>
          </p:nvPr>
        </p:nvSpPr>
        <p:spPr/>
        <p:txBody>
          <a:bodyPr/>
          <a:lstStyle/>
          <a:p>
            <a:fld id="{15943351-109D-42C9-8BD6-281C6608D771}" type="datetime1">
              <a:rPr lang="en-IN" smtClean="0"/>
              <a:t>12-04-2025</a:t>
            </a:fld>
            <a:endParaRPr lang="en-IN"/>
          </a:p>
        </p:txBody>
      </p:sp>
      <p:sp>
        <p:nvSpPr>
          <p:cNvPr id="3" name="Slide Number Placeholder 2">
            <a:extLst>
              <a:ext uri="{FF2B5EF4-FFF2-40B4-BE49-F238E27FC236}">
                <a16:creationId xmlns:a16="http://schemas.microsoft.com/office/drawing/2014/main" id="{09929CCA-035E-096C-33E5-28D283EAE45D}"/>
              </a:ext>
            </a:extLst>
          </p:cNvPr>
          <p:cNvSpPr>
            <a:spLocks noGrp="1"/>
          </p:cNvSpPr>
          <p:nvPr>
            <p:ph type="sldNum" sz="quarter" idx="12"/>
          </p:nvPr>
        </p:nvSpPr>
        <p:spPr/>
        <p:txBody>
          <a:bodyPr/>
          <a:lstStyle/>
          <a:p>
            <a:fld id="{79CD4CE9-F1A3-4728-B74D-DBF6FEAF9982}" type="slidenum">
              <a:rPr lang="en-IN" smtClean="0"/>
              <a:t>24</a:t>
            </a:fld>
            <a:endParaRPr lang="en-IN"/>
          </a:p>
        </p:txBody>
      </p:sp>
      <p:pic>
        <p:nvPicPr>
          <p:cNvPr id="5" name="Picture 4" descr="A person wearing a mask&#10;&#10;AI-generated content may be incorrect.">
            <a:extLst>
              <a:ext uri="{FF2B5EF4-FFF2-40B4-BE49-F238E27FC236}">
                <a16:creationId xmlns:a16="http://schemas.microsoft.com/office/drawing/2014/main" id="{F5C379F5-C285-4990-D8DB-1D682D86B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0662" y="1388967"/>
            <a:ext cx="9210675" cy="4967384"/>
          </a:xfrm>
          <a:prstGeom prst="rect">
            <a:avLst/>
          </a:prstGeom>
        </p:spPr>
      </p:pic>
      <p:cxnSp>
        <p:nvCxnSpPr>
          <p:cNvPr id="7" name="Straight Connector 6">
            <a:extLst>
              <a:ext uri="{FF2B5EF4-FFF2-40B4-BE49-F238E27FC236}">
                <a16:creationId xmlns:a16="http://schemas.microsoft.com/office/drawing/2014/main" id="{DF98BACB-8EC3-88D0-6AC9-EA1ED46334FC}"/>
              </a:ext>
            </a:extLst>
          </p:cNvPr>
          <p:cNvCxnSpPr>
            <a:cxnSpLocks/>
          </p:cNvCxnSpPr>
          <p:nvPr/>
        </p:nvCxnSpPr>
        <p:spPr>
          <a:xfrm>
            <a:off x="497711" y="738777"/>
            <a:ext cx="10405641" cy="0"/>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69887376-7DEA-33B1-95AB-89EC57A09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8789" y="0"/>
            <a:ext cx="1383212" cy="1015395"/>
          </a:xfrm>
          <a:prstGeom prst="rect">
            <a:avLst/>
          </a:prstGeom>
        </p:spPr>
      </p:pic>
    </p:spTree>
    <p:extLst>
      <p:ext uri="{BB962C8B-B14F-4D97-AF65-F5344CB8AC3E}">
        <p14:creationId xmlns:p14="http://schemas.microsoft.com/office/powerpoint/2010/main" val="2047972677"/>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C28E8E-4AF0-4DB7-787C-6536FD119F53}"/>
              </a:ext>
            </a:extLst>
          </p:cNvPr>
          <p:cNvSpPr>
            <a:spLocks noGrp="1"/>
          </p:cNvSpPr>
          <p:nvPr>
            <p:ph idx="1"/>
          </p:nvPr>
        </p:nvSpPr>
        <p:spPr>
          <a:xfrm>
            <a:off x="829304" y="1146023"/>
            <a:ext cx="10802258" cy="5987143"/>
          </a:xfrm>
        </p:spPr>
        <p:txBody>
          <a:bodyPr>
            <a:noAutofit/>
          </a:bodyPr>
          <a:lstStyle/>
          <a:p>
            <a:pPr marL="0" lvl="0" indent="0" algn="just">
              <a:buNone/>
            </a:pPr>
            <a:r>
              <a:rPr lang="en-IN" sz="1800" dirty="0">
                <a:latin typeface="Times New Roman" panose="02020603050405020304" pitchFamily="18" charset="0"/>
                <a:cs typeface="Times New Roman" panose="02020603050405020304" pitchFamily="18" charset="0"/>
              </a:rPr>
              <a:t>[1] </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S. Abbasi, H. Abdi and A. Ahmadi, "A face-mask detection approach based on yolo applied for a new collected dataset", 2021 26th International Computer Conference Computer Society of Iran (CSICC), pp. 1-6, 2021. View Article Google Scholar</a:t>
            </a:r>
          </a:p>
          <a:p>
            <a:pPr marL="0" lvl="0" indent="0" algn="just">
              <a:buNone/>
            </a:pPr>
            <a:r>
              <a:rPr lang="en-IN" sz="1800" dirty="0">
                <a:latin typeface="Times New Roman" panose="02020603050405020304" pitchFamily="18" charset="0"/>
                <a:cs typeface="Times New Roman" panose="02020603050405020304" pitchFamily="18" charset="0"/>
              </a:rPr>
              <a:t>[2] </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M. M. Rahman, M. M. H. Manik, M. M. Islam, S. Mahmud and J.-H. Kim, "An automated system to limit covid-19 using facial mask detection in smart city network", 2020 IEEE International IOT Electronics and Mechatronics Conference (IEMTRONICS), pp. 1-5, 2020. View Article Google Scholar</a:t>
            </a:r>
            <a:endParaRPr lang="en-US" sz="1800" dirty="0">
              <a:solidFill>
                <a:srgbClr val="1F1F1F"/>
              </a:solidFill>
              <a:latin typeface="Times New Roman" panose="02020603050405020304" pitchFamily="18" charset="0"/>
              <a:cs typeface="Times New Roman" panose="02020603050405020304" pitchFamily="18" charset="0"/>
            </a:endParaRPr>
          </a:p>
          <a:p>
            <a:pPr marL="0" indent="0" algn="just">
              <a:lnSpc>
                <a:spcPct val="150000"/>
              </a:lnSpc>
              <a:buNone/>
            </a:pPr>
            <a:r>
              <a:rPr lang="en-IN" sz="1800" dirty="0">
                <a:latin typeface="Times New Roman" panose="02020603050405020304" pitchFamily="18" charset="0"/>
                <a:cs typeface="Times New Roman" panose="02020603050405020304" pitchFamily="18" charset="0"/>
              </a:rPr>
              <a:t>[3] </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M. S. Islam, E. H. Moon, M. A.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Shaikat</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and M. J. Alam, "A novel approach to detect face mask using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cnn</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2020 3</a:t>
            </a:r>
            <a:r>
              <a:rPr lang="en-IN" sz="1800" baseline="30000" dirty="0">
                <a:effectLst/>
                <a:latin typeface="Times New Roman" panose="02020603050405020304" pitchFamily="18" charset="0"/>
                <a:ea typeface="DengXian" panose="020B0503020204020204" pitchFamily="2" charset="-122"/>
                <a:cs typeface="Times New Roman" panose="02020603050405020304" pitchFamily="18" charset="0"/>
              </a:rPr>
              <a:t>rd</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International Conference on Intelligent Sustainable Systems (ICISS), pp. 800-806, 2020. View Article Google Scholar </a:t>
            </a:r>
          </a:p>
          <a:p>
            <a:pPr marL="0" lvl="0" indent="0" algn="just">
              <a:buNone/>
            </a:pPr>
            <a:r>
              <a:rPr lang="en-IN" sz="1800" dirty="0">
                <a:latin typeface="Times New Roman" panose="02020603050405020304" pitchFamily="18" charset="0"/>
                <a:cs typeface="Times New Roman" panose="02020603050405020304" pitchFamily="18" charset="0"/>
              </a:rPr>
              <a:t>[4] </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A. Das, M. W. Ansari and R. Basak, "Covid-19 face mask detection using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tensorflow</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keras</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and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opencv</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2020 IEEE 17th India Council International Conference (INDICON), pp. 1-5, 2020. View Article Google Scholar </a:t>
            </a:r>
          </a:p>
          <a:p>
            <a:pPr marL="0" lvl="0" indent="0" algn="just">
              <a:buNone/>
            </a:pPr>
            <a:r>
              <a:rPr lang="en-IN" sz="1800" dirty="0">
                <a:latin typeface="Times New Roman" panose="02020603050405020304" pitchFamily="18" charset="0"/>
                <a:cs typeface="Times New Roman" panose="02020603050405020304" pitchFamily="18" charset="0"/>
              </a:rPr>
              <a:t>[5</a:t>
            </a:r>
            <a:r>
              <a:rPr lang="en-US" sz="1800" dirty="0">
                <a:latin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S. Srinivasan, R. R. Singh, R. R. Biradar and S. Revathi, "Covid-19 monitoring system using social distancing and face mask detection on surveillance video datasets", 2021 International Conference on Emerging Smart Computing and Informatics (ESCI), pp. 449-455, 2021. View Article Google Scholar.</a:t>
            </a:r>
          </a:p>
          <a:p>
            <a:pPr marL="0" indent="0" defTabSz="623888">
              <a:lnSpc>
                <a:spcPct val="120000"/>
              </a:lnSpc>
              <a:spcBef>
                <a:spcPts val="0"/>
              </a:spcBef>
              <a:buNone/>
            </a:pPr>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BB008065-26D3-ED2C-20EE-637E8C123858}"/>
              </a:ext>
            </a:extLst>
          </p:cNvPr>
          <p:cNvSpPr>
            <a:spLocks noGrp="1"/>
          </p:cNvSpPr>
          <p:nvPr>
            <p:ph type="sldNum" sz="quarter" idx="12"/>
          </p:nvPr>
        </p:nvSpPr>
        <p:spPr>
          <a:xfrm>
            <a:off x="8610600" y="6205094"/>
            <a:ext cx="2743200" cy="365125"/>
          </a:xfrm>
        </p:spPr>
        <p:txBody>
          <a:bodyPr/>
          <a:lstStyle/>
          <a:p>
            <a:r>
              <a:rPr lang="en-US" sz="1600" dirty="0">
                <a:solidFill>
                  <a:schemeClr val="tx1"/>
                </a:solidFill>
              </a:rPr>
              <a:t>25</a:t>
            </a:r>
            <a:endParaRPr lang="en-IN" sz="1600" dirty="0">
              <a:solidFill>
                <a:schemeClr val="tx1"/>
              </a:soli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26057" y="1"/>
            <a:ext cx="1465943" cy="1008686"/>
          </a:xfrm>
          <a:prstGeom prst="rect">
            <a:avLst/>
          </a:prstGeom>
        </p:spPr>
      </p:pic>
      <p:sp>
        <p:nvSpPr>
          <p:cNvPr id="2" name="Rectangle 1"/>
          <p:cNvSpPr/>
          <p:nvPr/>
        </p:nvSpPr>
        <p:spPr>
          <a:xfrm>
            <a:off x="4897120" y="-101600"/>
            <a:ext cx="2274224" cy="579967"/>
          </a:xfrm>
          <a:prstGeom prst="rect">
            <a:avLst/>
          </a:prstGeom>
        </p:spPr>
        <p:txBody>
          <a:bodyPr wrap="square">
            <a:spAutoFit/>
          </a:bodyPr>
          <a:lstStyle/>
          <a:p>
            <a:pPr>
              <a:lnSpc>
                <a:spcPct val="150000"/>
              </a:lnSpc>
            </a:pPr>
            <a:r>
              <a:rPr lang="en-US" sz="2400" b="1">
                <a:latin typeface="Times New Roman" panose="02020603050405020304" pitchFamily="18" charset="0"/>
                <a:cs typeface="Times New Roman" panose="02020603050405020304" pitchFamily="18" charset="0"/>
              </a:rPr>
              <a:t>REFERENCES</a:t>
            </a:r>
          </a:p>
        </p:txBody>
      </p:sp>
      <p:cxnSp>
        <p:nvCxnSpPr>
          <p:cNvPr id="13" name="Straight Connector 12"/>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4" name="Date Placeholder 13"/>
          <p:cNvSpPr>
            <a:spLocks noGrp="1"/>
          </p:cNvSpPr>
          <p:nvPr>
            <p:ph type="dt" sz="half" idx="10"/>
          </p:nvPr>
        </p:nvSpPr>
        <p:spPr/>
        <p:txBody>
          <a:bodyPr/>
          <a:lstStyle/>
          <a:p>
            <a:fld id="{9C95C9B0-0BE2-4AE7-B468-197A9F0AF98B}" type="datetime1">
              <a:rPr lang="en-IN" smtClean="0"/>
              <a:t>12-04-2025</a:t>
            </a:fld>
            <a:endParaRPr lang="en-IN"/>
          </a:p>
        </p:txBody>
      </p:sp>
    </p:spTree>
    <p:extLst>
      <p:ext uri="{BB962C8B-B14F-4D97-AF65-F5344CB8AC3E}">
        <p14:creationId xmlns:p14="http://schemas.microsoft.com/office/powerpoint/2010/main" val="3704108262"/>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8349A-10D3-40D9-9851-614C997034BA}"/>
              </a:ext>
            </a:extLst>
          </p:cNvPr>
          <p:cNvSpPr>
            <a:spLocks noGrp="1"/>
          </p:cNvSpPr>
          <p:nvPr>
            <p:ph type="title"/>
          </p:nvPr>
        </p:nvSpPr>
        <p:spPr/>
        <p:txBody>
          <a:bodyPr/>
          <a:lstStyle/>
          <a:p>
            <a:r>
              <a:rPr lang="en-US" dirty="0"/>
              <a:t> </a:t>
            </a:r>
            <a:endParaRPr lang="en-IN" dirty="0"/>
          </a:p>
        </p:txBody>
      </p:sp>
      <p:sp>
        <p:nvSpPr>
          <p:cNvPr id="3" name="Content Placeholder 2">
            <a:extLst>
              <a:ext uri="{FF2B5EF4-FFF2-40B4-BE49-F238E27FC236}">
                <a16:creationId xmlns:a16="http://schemas.microsoft.com/office/drawing/2014/main" id="{A9DB97A4-B583-0DCE-A441-39F1CA44730A}"/>
              </a:ext>
            </a:extLst>
          </p:cNvPr>
          <p:cNvSpPr>
            <a:spLocks noGrp="1"/>
          </p:cNvSpPr>
          <p:nvPr>
            <p:ph idx="1"/>
          </p:nvPr>
        </p:nvSpPr>
        <p:spPr>
          <a:xfrm>
            <a:off x="486697" y="1101213"/>
            <a:ext cx="11218606" cy="5391662"/>
          </a:xfrm>
        </p:spPr>
        <p:txBody>
          <a:bodyPr>
            <a:normAutofit/>
          </a:bodyPr>
          <a:lstStyle/>
          <a:p>
            <a:pPr marL="0" indent="0" algn="just">
              <a:buNone/>
            </a:pPr>
            <a:r>
              <a:rPr lang="en-IN" sz="1800" dirty="0">
                <a:latin typeface="Times New Roman" panose="02020603050405020304" pitchFamily="18" charset="0"/>
                <a:ea typeface="DengXian" panose="020B0503020204020204" pitchFamily="2" charset="-122"/>
                <a:cs typeface="Times New Roman" panose="02020603050405020304" pitchFamily="18" charset="0"/>
              </a:rPr>
              <a:t>[6] </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J.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Ieamsaard</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S. N.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Charoensook</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and S.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Yammen</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"Deep learning-based face mask detection using yolov5", 2021 9th International Electrical Engineering Congress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iEECON</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pp. 428-431, 2021. View Article Google Scholar </a:t>
            </a:r>
          </a:p>
          <a:p>
            <a:pPr marL="0" indent="0" algn="just">
              <a:buNone/>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[7] M. S. M. Shahar and L.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Mazalan</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"Face identity for face mask recognition system", 2021 IEEE 11th IEEE Symposium on Computer Applications &amp; Industrial Electronics (ISCAIE), pp. 42-47, 2021. View Article Google Scholar</a:t>
            </a:r>
          </a:p>
          <a:p>
            <a:pPr marL="0" indent="0" algn="just">
              <a:buNone/>
            </a:pPr>
            <a:r>
              <a:rPr lang="en-IN" sz="1800" dirty="0">
                <a:latin typeface="Times New Roman" panose="02020603050405020304" pitchFamily="18" charset="0"/>
                <a:ea typeface="DengXian" panose="020B0503020204020204" pitchFamily="2" charset="-122"/>
                <a:cs typeface="Times New Roman" panose="02020603050405020304" pitchFamily="18" charset="0"/>
              </a:rPr>
              <a:t>[8] </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S. A. Sanjaya and S. A.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Rakhmawan</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"Face mask detection using mobilenetv2 in the era of covid-19 pandemic", 2020 International Conference on Data Analytics for Business and Industry: Way Towards a Sustainable Economy (ICDABI), pp. 1-5, 2020. View Article Google Scholar </a:t>
            </a:r>
          </a:p>
          <a:p>
            <a:pPr marL="0" indent="0" algn="just">
              <a:buNone/>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[9] G. Yang, W. Feng, J. Jin, Q. Lei, X. Li, G. Gui, et al., "Face mask recognition system with yolov5 based on image recognition", 2020 IEEE 6th International Conference on Computer and Communications (ICCC), pp. 1398-1404, 2020. View Article Google Scholar </a:t>
            </a:r>
          </a:p>
          <a:p>
            <a:pPr marL="0" indent="0" algn="just">
              <a:buNone/>
            </a:pPr>
            <a:r>
              <a:rPr lang="en-IN" sz="1800" dirty="0">
                <a:latin typeface="Times New Roman" panose="02020603050405020304" pitchFamily="18" charset="0"/>
                <a:ea typeface="DengXian" panose="020B0503020204020204" pitchFamily="2" charset="-122"/>
                <a:cs typeface="Times New Roman" panose="02020603050405020304" pitchFamily="18" charset="0"/>
              </a:rPr>
              <a:t>[10] </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A. Negi, P. Chauhan, K. Kumar and R. Rajput, "Face mask detection classifier and model pruning with </a:t>
            </a:r>
            <a:r>
              <a:rPr lang="en-IN" sz="1800" dirty="0" err="1">
                <a:effectLst/>
                <a:latin typeface="Times New Roman" panose="02020603050405020304" pitchFamily="18" charset="0"/>
                <a:ea typeface="DengXian" panose="020B0503020204020204" pitchFamily="2" charset="-122"/>
                <a:cs typeface="Times New Roman" panose="02020603050405020304" pitchFamily="18" charset="0"/>
              </a:rPr>
              <a:t>keras</a:t>
            </a: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-surgeon", 2020 5th IEEE International Conference on Recent Advances and Innovations in Engineering (ICRAIE), pp. 1-6, 2020. View Article Google Scholar </a:t>
            </a:r>
          </a:p>
          <a:p>
            <a:pPr marL="0" indent="0" algn="just">
              <a:buNone/>
            </a:pP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pPr marL="0" indent="0">
              <a:buNone/>
            </a:pPr>
            <a:endParaRPr lang="en-IN" sz="1800" dirty="0">
              <a:effectLst/>
              <a:latin typeface="Calibri" panose="020F0502020204030204" pitchFamily="34" charset="0"/>
              <a:ea typeface="DengXian" panose="020B0503020204020204" pitchFamily="2" charset="-122"/>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3923BB5B-931D-754B-31BD-2F917615D88F}"/>
              </a:ext>
            </a:extLst>
          </p:cNvPr>
          <p:cNvSpPr>
            <a:spLocks noGrp="1"/>
          </p:cNvSpPr>
          <p:nvPr>
            <p:ph type="dt" sz="half" idx="10"/>
          </p:nvPr>
        </p:nvSpPr>
        <p:spPr/>
        <p:txBody>
          <a:bodyPr/>
          <a:lstStyle/>
          <a:p>
            <a:fld id="{64013B94-742D-48D3-8FAB-AFA19A2F562D}" type="datetime1">
              <a:rPr lang="en-IN" smtClean="0"/>
              <a:t>12-04-2025</a:t>
            </a:fld>
            <a:endParaRPr lang="en-IN"/>
          </a:p>
        </p:txBody>
      </p:sp>
      <p:sp>
        <p:nvSpPr>
          <p:cNvPr id="5" name="Slide Number Placeholder 4">
            <a:extLst>
              <a:ext uri="{FF2B5EF4-FFF2-40B4-BE49-F238E27FC236}">
                <a16:creationId xmlns:a16="http://schemas.microsoft.com/office/drawing/2014/main" id="{5275D63A-25D5-7E2E-321B-6C76D1BDA5A6}"/>
              </a:ext>
            </a:extLst>
          </p:cNvPr>
          <p:cNvSpPr>
            <a:spLocks noGrp="1"/>
          </p:cNvSpPr>
          <p:nvPr>
            <p:ph type="sldNum" sz="quarter" idx="12"/>
          </p:nvPr>
        </p:nvSpPr>
        <p:spPr/>
        <p:txBody>
          <a:bodyPr/>
          <a:lstStyle/>
          <a:p>
            <a:fld id="{79CD4CE9-F1A3-4728-B74D-DBF6FEAF9982}" type="slidenum">
              <a:rPr lang="en-IN" smtClean="0"/>
              <a:t>26</a:t>
            </a:fld>
            <a:endParaRPr lang="en-IN"/>
          </a:p>
        </p:txBody>
      </p:sp>
      <p:cxnSp>
        <p:nvCxnSpPr>
          <p:cNvPr id="8" name="Straight Connector 7">
            <a:extLst>
              <a:ext uri="{FF2B5EF4-FFF2-40B4-BE49-F238E27FC236}">
                <a16:creationId xmlns:a16="http://schemas.microsoft.com/office/drawing/2014/main" id="{A6210864-BEE4-551F-01C5-3863377D7306}"/>
              </a:ext>
            </a:extLst>
          </p:cNvPr>
          <p:cNvCxnSpPr/>
          <p:nvPr/>
        </p:nvCxnSpPr>
        <p:spPr>
          <a:xfrm flipV="1">
            <a:off x="362857" y="588999"/>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FE6EC78E-AB37-5400-FC90-7221C1E3F5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68428" y="84656"/>
            <a:ext cx="1465943" cy="1008686"/>
          </a:xfrm>
          <a:prstGeom prst="rect">
            <a:avLst/>
          </a:prstGeom>
        </p:spPr>
      </p:pic>
    </p:spTree>
    <p:extLst>
      <p:ext uri="{BB962C8B-B14F-4D97-AF65-F5344CB8AC3E}">
        <p14:creationId xmlns:p14="http://schemas.microsoft.com/office/powerpoint/2010/main" val="2015572589"/>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C1A57-209D-3099-A7C4-92E0027B01D4}"/>
              </a:ext>
            </a:extLst>
          </p:cNvPr>
          <p:cNvSpPr>
            <a:spLocks noGrp="1"/>
          </p:cNvSpPr>
          <p:nvPr>
            <p:ph type="ctrTitle"/>
          </p:nvPr>
        </p:nvSpPr>
        <p:spPr>
          <a:xfrm>
            <a:off x="701040" y="1361439"/>
            <a:ext cx="10119360" cy="2367281"/>
          </a:xfrm>
        </p:spPr>
        <p:txBody>
          <a:bodyPr>
            <a:normAutofit/>
          </a:bodyPr>
          <a:lstStyle/>
          <a:p>
            <a:r>
              <a:rPr lang="en-US" sz="8000" b="1" dirty="0"/>
              <a:t>Thank You</a:t>
            </a:r>
            <a:endParaRPr lang="en-IN" sz="8000" b="1" dirty="0"/>
          </a:p>
        </p:txBody>
      </p:sp>
      <p:sp>
        <p:nvSpPr>
          <p:cNvPr id="4" name="Date Placeholder 3">
            <a:extLst>
              <a:ext uri="{FF2B5EF4-FFF2-40B4-BE49-F238E27FC236}">
                <a16:creationId xmlns:a16="http://schemas.microsoft.com/office/drawing/2014/main" id="{1BB5F135-7BF1-ECBA-CA04-3EF84E7FA5FC}"/>
              </a:ext>
            </a:extLst>
          </p:cNvPr>
          <p:cNvSpPr>
            <a:spLocks noGrp="1"/>
          </p:cNvSpPr>
          <p:nvPr>
            <p:ph type="dt" sz="half" idx="10"/>
          </p:nvPr>
        </p:nvSpPr>
        <p:spPr/>
        <p:txBody>
          <a:bodyPr/>
          <a:lstStyle/>
          <a:p>
            <a:fld id="{706F676E-C7AD-473C-A816-AA85BD5D68C4}" type="datetime1">
              <a:rPr lang="en-IN" smtClean="0"/>
              <a:t>12-04-2025</a:t>
            </a:fld>
            <a:endParaRPr lang="en-IN"/>
          </a:p>
        </p:txBody>
      </p:sp>
      <p:sp>
        <p:nvSpPr>
          <p:cNvPr id="5" name="Slide Number Placeholder 4">
            <a:extLst>
              <a:ext uri="{FF2B5EF4-FFF2-40B4-BE49-F238E27FC236}">
                <a16:creationId xmlns:a16="http://schemas.microsoft.com/office/drawing/2014/main" id="{F0EEBDB7-7242-82A9-7958-72CC754E6CA2}"/>
              </a:ext>
            </a:extLst>
          </p:cNvPr>
          <p:cNvSpPr>
            <a:spLocks noGrp="1"/>
          </p:cNvSpPr>
          <p:nvPr>
            <p:ph type="sldNum" sz="quarter" idx="12"/>
          </p:nvPr>
        </p:nvSpPr>
        <p:spPr/>
        <p:txBody>
          <a:bodyPr/>
          <a:lstStyle/>
          <a:p>
            <a:fld id="{79CD4CE9-F1A3-4728-B74D-DBF6FEAF9982}" type="slidenum">
              <a:rPr lang="en-IN" smtClean="0"/>
              <a:t>27</a:t>
            </a:fld>
            <a:endParaRPr lang="en-IN"/>
          </a:p>
        </p:txBody>
      </p:sp>
    </p:spTree>
    <p:extLst>
      <p:ext uri="{BB962C8B-B14F-4D97-AF65-F5344CB8AC3E}">
        <p14:creationId xmlns:p14="http://schemas.microsoft.com/office/powerpoint/2010/main" val="918133646"/>
      </p:ext>
    </p:extLst>
  </p:cSld>
  <p:clrMapOvr>
    <a:masterClrMapping/>
  </p:clrMapOvr>
  <p:transition spd="slow">
    <p:cove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TotalTime>
  <Words>2408</Words>
  <Application>Microsoft Office PowerPoint</Application>
  <PresentationFormat>Widescreen</PresentationFormat>
  <Paragraphs>281</Paragraphs>
  <Slides>27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SYSTEM</vt:lpstr>
      <vt:lpstr>PowerPoint Presentation</vt:lpstr>
      <vt:lpstr>OBJECTIVE </vt:lpstr>
      <vt:lpstr>PowerPoint Presentation</vt:lpstr>
      <vt:lpstr>ADVANTAGES OF PROPOSED SYSTEM OVER EXISTING SYSTEM</vt:lpstr>
      <vt:lpstr>PowerPoint Presentation</vt:lpstr>
      <vt:lpstr>PowerPoint Presentation</vt:lpstr>
      <vt:lpstr>PROJECT TIME PLAN </vt:lpstr>
      <vt:lpstr>SYSTEM DESIGN</vt:lpstr>
      <vt:lpstr>SYSTEM DESIGN</vt:lpstr>
      <vt:lpstr>SYSTEM DESIGN</vt:lpstr>
      <vt:lpstr>SYSTEM DESIGN</vt:lpstr>
      <vt:lpstr>SYSTEM DESIGN</vt:lpstr>
      <vt:lpstr>PowerPoint Presentation</vt:lpstr>
      <vt:lpstr>PowerPoint Presentation</vt:lpstr>
      <vt:lpstr>PowerPoint Presentation</vt:lpstr>
      <vt:lpstr>PowerPoint Presentation</vt:lpstr>
      <vt:lpstr>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Digital Sketchpad : Deep Learning in Forensic Face Sketching</dc:title>
  <dc:creator>KASABU SUNILKUMAR</dc:creator>
  <cp:lastModifiedBy>Dharavath Anvesh</cp:lastModifiedBy>
  <cp:revision>2</cp:revision>
  <dcterms:created xsi:type="dcterms:W3CDTF">2024-08-07T16:48:25Z</dcterms:created>
  <dcterms:modified xsi:type="dcterms:W3CDTF">2025-04-11T20:17:48Z</dcterms:modified>
</cp:coreProperties>
</file>